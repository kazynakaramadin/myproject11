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04" r:id="rId2"/>
    <p:sldId id="258" r:id="rId3"/>
    <p:sldId id="288" r:id="rId4"/>
  </p:sldIdLst>
  <p:sldSz cx="12192000" cy="6858000"/>
  <p:notesSz cx="6797675" cy="98742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7589"/>
    <a:srgbClr val="44546A"/>
    <a:srgbClr val="3B3738"/>
    <a:srgbClr val="231F20"/>
    <a:srgbClr val="272324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38" autoAdjust="0"/>
    <p:restoredTop sz="94434" autoAdjust="0"/>
  </p:normalViewPr>
  <p:slideViewPr>
    <p:cSldViewPr snapToGrid="0" showGuides="1">
      <p:cViewPr varScale="1">
        <p:scale>
          <a:sx n="71" d="100"/>
          <a:sy n="71" d="100"/>
        </p:scale>
        <p:origin x="840" y="60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01" cy="495557"/>
          </a:xfrm>
          <a:prstGeom prst="rect">
            <a:avLst/>
          </a:prstGeom>
        </p:spPr>
        <p:txBody>
          <a:bodyPr vert="horz" lIns="92369" tIns="46183" rIns="92369" bIns="46183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9770" y="0"/>
            <a:ext cx="2946301" cy="495557"/>
          </a:xfrm>
          <a:prstGeom prst="rect">
            <a:avLst/>
          </a:prstGeom>
        </p:spPr>
        <p:txBody>
          <a:bodyPr vert="horz" lIns="92369" tIns="46183" rIns="92369" bIns="46183" rtlCol="0"/>
          <a:lstStyle>
            <a:lvl1pPr algn="r">
              <a:defRPr sz="1200"/>
            </a:lvl1pPr>
          </a:lstStyle>
          <a:p>
            <a:fld id="{9092A2AA-AA06-45B5-8DE1-948F0F562D6F}" type="datetimeFigureOut">
              <a:rPr lang="ru-RU" smtClean="0"/>
              <a:pPr/>
              <a:t>10.01.2018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8693"/>
            <a:ext cx="2946301" cy="495557"/>
          </a:xfrm>
          <a:prstGeom prst="rect">
            <a:avLst/>
          </a:prstGeom>
        </p:spPr>
        <p:txBody>
          <a:bodyPr vert="horz" lIns="92369" tIns="46183" rIns="92369" bIns="46183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9770" y="9378693"/>
            <a:ext cx="2946301" cy="495557"/>
          </a:xfrm>
          <a:prstGeom prst="rect">
            <a:avLst/>
          </a:prstGeom>
        </p:spPr>
        <p:txBody>
          <a:bodyPr vert="horz" lIns="92369" tIns="46183" rIns="92369" bIns="46183" rtlCol="0" anchor="b"/>
          <a:lstStyle>
            <a:lvl1pPr algn="r">
              <a:defRPr sz="1200"/>
            </a:lvl1pPr>
          </a:lstStyle>
          <a:p>
            <a:fld id="{1DC88932-E093-4FF5-A6EF-E8329D8844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6264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45659" cy="495426"/>
          </a:xfrm>
          <a:prstGeom prst="rect">
            <a:avLst/>
          </a:prstGeom>
        </p:spPr>
        <p:txBody>
          <a:bodyPr vert="horz" lIns="91105" tIns="45551" rIns="91105" bIns="45551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4" y="4"/>
            <a:ext cx="2945659" cy="495426"/>
          </a:xfrm>
          <a:prstGeom prst="rect">
            <a:avLst/>
          </a:prstGeom>
        </p:spPr>
        <p:txBody>
          <a:bodyPr vert="horz" lIns="91105" tIns="45551" rIns="91105" bIns="45551" rtlCol="0"/>
          <a:lstStyle>
            <a:lvl1pPr algn="r">
              <a:defRPr sz="1200"/>
            </a:lvl1pPr>
          </a:lstStyle>
          <a:p>
            <a:fld id="{B4ED4CD5-3AA1-408C-9EE1-90034578E5A3}" type="datetimeFigureOut">
              <a:rPr lang="ru-RU" smtClean="0"/>
              <a:pPr/>
              <a:t>10.01.2018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5075"/>
            <a:ext cx="592137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05" tIns="45551" rIns="91105" bIns="45551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105" tIns="45551" rIns="91105" bIns="45551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3" y="9378828"/>
            <a:ext cx="2945659" cy="495425"/>
          </a:xfrm>
          <a:prstGeom prst="rect">
            <a:avLst/>
          </a:prstGeom>
        </p:spPr>
        <p:txBody>
          <a:bodyPr vert="horz" lIns="91105" tIns="45551" rIns="91105" bIns="45551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4" y="9378828"/>
            <a:ext cx="2945659" cy="495425"/>
          </a:xfrm>
          <a:prstGeom prst="rect">
            <a:avLst/>
          </a:prstGeom>
        </p:spPr>
        <p:txBody>
          <a:bodyPr vert="horz" lIns="91105" tIns="45551" rIns="91105" bIns="45551" rtlCol="0" anchor="b"/>
          <a:lstStyle>
            <a:lvl1pPr algn="r">
              <a:defRPr sz="1200"/>
            </a:lvl1pPr>
          </a:lstStyle>
          <a:p>
            <a:fld id="{A70E317F-BEFB-40BE-933B-ED6E1356CCB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2487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366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48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62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99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490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05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01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20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175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86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48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60117-E08C-411B-B297-28158E1E13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17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4.xml"/><Relationship Id="rId7" Type="http://schemas.openxmlformats.org/officeDocument/2006/relationships/image" Target="../media/image2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.png"/><Relationship Id="rId4" Type="http://schemas.openxmlformats.org/officeDocument/2006/relationships/tags" Target="../tags/tag5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ятиугольник 12"/>
          <p:cNvSpPr/>
          <p:nvPr/>
        </p:nvSpPr>
        <p:spPr>
          <a:xfrm rot="5400000">
            <a:off x="4922910" y="2530931"/>
            <a:ext cx="2281871" cy="5455151"/>
          </a:xfrm>
          <a:prstGeom prst="homePlate">
            <a:avLst>
              <a:gd name="adj" fmla="val 14735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2212366" y="1644694"/>
            <a:ext cx="7666967" cy="365444"/>
          </a:xfrm>
          <a:prstGeom prst="rect">
            <a:avLst/>
          </a:prstGeom>
        </p:spPr>
        <p:txBody>
          <a:bodyPr vert="horz" lIns="0" tIns="76421" rIns="0" bIns="76421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smtClean="0">
                <a:solidFill>
                  <a:srgbClr val="0070C0"/>
                </a:solidFill>
                <a:latin typeface="+mn-lt"/>
                <a:cs typeface="Segoe UI" panose="020B0502040204020203" pitchFamily="34" charset="0"/>
              </a:rPr>
              <a:t>Программа «Цифровой Казахстан» </a:t>
            </a:r>
            <a:endParaRPr lang="en-US" sz="2400" b="1" dirty="0" smtClean="0">
              <a:solidFill>
                <a:srgbClr val="0070C0"/>
              </a:solidFill>
              <a:latin typeface="+mn-lt"/>
              <a:cs typeface="Segoe UI" panose="020B0502040204020203" pitchFamily="34" charset="0"/>
            </a:endParaRPr>
          </a:p>
        </p:txBody>
      </p:sp>
      <p:grpSp>
        <p:nvGrpSpPr>
          <p:cNvPr id="79" name="Group 4"/>
          <p:cNvGrpSpPr>
            <a:grpSpLocks noChangeAspect="1"/>
          </p:cNvGrpSpPr>
          <p:nvPr/>
        </p:nvGrpSpPr>
        <p:grpSpPr bwMode="auto">
          <a:xfrm>
            <a:off x="9804686" y="4469646"/>
            <a:ext cx="628391" cy="739815"/>
            <a:chOff x="332" y="4452"/>
            <a:chExt cx="626" cy="737"/>
          </a:xfrm>
          <a:solidFill>
            <a:srgbClr val="0070C0"/>
          </a:solidFill>
        </p:grpSpPr>
        <p:sp>
          <p:nvSpPr>
            <p:cNvPr id="80" name="Freeform 5"/>
            <p:cNvSpPr>
              <a:spLocks/>
            </p:cNvSpPr>
            <p:nvPr/>
          </p:nvSpPr>
          <p:spPr bwMode="auto">
            <a:xfrm>
              <a:off x="829" y="4969"/>
              <a:ext cx="45" cy="41"/>
            </a:xfrm>
            <a:custGeom>
              <a:avLst/>
              <a:gdLst>
                <a:gd name="T0" fmla="*/ 4 w 19"/>
                <a:gd name="T1" fmla="*/ 17 h 17"/>
                <a:gd name="T2" fmla="*/ 1 w 19"/>
                <a:gd name="T3" fmla="*/ 16 h 17"/>
                <a:gd name="T4" fmla="*/ 2 w 19"/>
                <a:gd name="T5" fmla="*/ 12 h 17"/>
                <a:gd name="T6" fmla="*/ 13 w 19"/>
                <a:gd name="T7" fmla="*/ 1 h 17"/>
                <a:gd name="T8" fmla="*/ 17 w 19"/>
                <a:gd name="T9" fmla="*/ 1 h 17"/>
                <a:gd name="T10" fmla="*/ 18 w 19"/>
                <a:gd name="T11" fmla="*/ 5 h 17"/>
                <a:gd name="T12" fmla="*/ 6 w 19"/>
                <a:gd name="T13" fmla="*/ 16 h 17"/>
                <a:gd name="T14" fmla="*/ 4 w 19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17">
                  <a:moveTo>
                    <a:pt x="4" y="17"/>
                  </a:moveTo>
                  <a:cubicBezTo>
                    <a:pt x="3" y="17"/>
                    <a:pt x="2" y="17"/>
                    <a:pt x="1" y="16"/>
                  </a:cubicBezTo>
                  <a:cubicBezTo>
                    <a:pt x="0" y="14"/>
                    <a:pt x="0" y="13"/>
                    <a:pt x="2" y="12"/>
                  </a:cubicBezTo>
                  <a:cubicBezTo>
                    <a:pt x="6" y="8"/>
                    <a:pt x="10" y="5"/>
                    <a:pt x="13" y="1"/>
                  </a:cubicBezTo>
                  <a:cubicBezTo>
                    <a:pt x="14" y="0"/>
                    <a:pt x="16" y="0"/>
                    <a:pt x="17" y="1"/>
                  </a:cubicBezTo>
                  <a:cubicBezTo>
                    <a:pt x="19" y="2"/>
                    <a:pt x="19" y="4"/>
                    <a:pt x="18" y="5"/>
                  </a:cubicBezTo>
                  <a:cubicBezTo>
                    <a:pt x="14" y="9"/>
                    <a:pt x="10" y="13"/>
                    <a:pt x="6" y="16"/>
                  </a:cubicBezTo>
                  <a:cubicBezTo>
                    <a:pt x="5" y="17"/>
                    <a:pt x="4" y="17"/>
                    <a:pt x="4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6"/>
            <p:cNvSpPr>
              <a:spLocks noEditPoints="1"/>
            </p:cNvSpPr>
            <p:nvPr/>
          </p:nvSpPr>
          <p:spPr bwMode="auto">
            <a:xfrm>
              <a:off x="332" y="4452"/>
              <a:ext cx="626" cy="472"/>
            </a:xfrm>
            <a:custGeom>
              <a:avLst/>
              <a:gdLst>
                <a:gd name="T0" fmla="*/ 241 w 262"/>
                <a:gd name="T1" fmla="*/ 198 h 198"/>
                <a:gd name="T2" fmla="*/ 251 w 262"/>
                <a:gd name="T3" fmla="*/ 166 h 198"/>
                <a:gd name="T4" fmla="*/ 257 w 262"/>
                <a:gd name="T5" fmla="*/ 167 h 198"/>
                <a:gd name="T6" fmla="*/ 242 w 262"/>
                <a:gd name="T7" fmla="*/ 198 h 198"/>
                <a:gd name="T8" fmla="*/ 13 w 262"/>
                <a:gd name="T9" fmla="*/ 190 h 198"/>
                <a:gd name="T10" fmla="*/ 5 w 262"/>
                <a:gd name="T11" fmla="*/ 157 h 198"/>
                <a:gd name="T12" fmla="*/ 19 w 262"/>
                <a:gd name="T13" fmla="*/ 187 h 198"/>
                <a:gd name="T14" fmla="*/ 16 w 262"/>
                <a:gd name="T15" fmla="*/ 192 h 198"/>
                <a:gd name="T16" fmla="*/ 259 w 262"/>
                <a:gd name="T17" fmla="*/ 139 h 198"/>
                <a:gd name="T18" fmla="*/ 256 w 262"/>
                <a:gd name="T19" fmla="*/ 131 h 198"/>
                <a:gd name="T20" fmla="*/ 256 w 262"/>
                <a:gd name="T21" fmla="*/ 102 h 198"/>
                <a:gd name="T22" fmla="*/ 262 w 262"/>
                <a:gd name="T23" fmla="*/ 131 h 198"/>
                <a:gd name="T24" fmla="*/ 259 w 262"/>
                <a:gd name="T25" fmla="*/ 139 h 198"/>
                <a:gd name="T26" fmla="*/ 3 w 262"/>
                <a:gd name="T27" fmla="*/ 132 h 198"/>
                <a:gd name="T28" fmla="*/ 4 w 262"/>
                <a:gd name="T29" fmla="*/ 97 h 198"/>
                <a:gd name="T30" fmla="*/ 10 w 262"/>
                <a:gd name="T31" fmla="*/ 99 h 198"/>
                <a:gd name="T32" fmla="*/ 3 w 262"/>
                <a:gd name="T33" fmla="*/ 132 h 198"/>
                <a:gd name="T34" fmla="*/ 244 w 262"/>
                <a:gd name="T35" fmla="*/ 77 h 198"/>
                <a:gd name="T36" fmla="*/ 228 w 262"/>
                <a:gd name="T37" fmla="*/ 47 h 198"/>
                <a:gd name="T38" fmla="*/ 249 w 262"/>
                <a:gd name="T39" fmla="*/ 74 h 198"/>
                <a:gd name="T40" fmla="*/ 246 w 262"/>
                <a:gd name="T41" fmla="*/ 79 h 198"/>
                <a:gd name="T42" fmla="*/ 17 w 262"/>
                <a:gd name="T43" fmla="*/ 72 h 198"/>
                <a:gd name="T44" fmla="*/ 35 w 262"/>
                <a:gd name="T45" fmla="*/ 42 h 198"/>
                <a:gd name="T46" fmla="*/ 39 w 262"/>
                <a:gd name="T47" fmla="*/ 46 h 198"/>
                <a:gd name="T48" fmla="*/ 19 w 262"/>
                <a:gd name="T49" fmla="*/ 72 h 198"/>
                <a:gd name="T50" fmla="*/ 205 w 262"/>
                <a:gd name="T51" fmla="*/ 30 h 198"/>
                <a:gd name="T52" fmla="*/ 177 w 262"/>
                <a:gd name="T53" fmla="*/ 12 h 198"/>
                <a:gd name="T54" fmla="*/ 209 w 262"/>
                <a:gd name="T55" fmla="*/ 26 h 198"/>
                <a:gd name="T56" fmla="*/ 207 w 262"/>
                <a:gd name="T57" fmla="*/ 31 h 198"/>
                <a:gd name="T58" fmla="*/ 58 w 262"/>
                <a:gd name="T59" fmla="*/ 25 h 198"/>
                <a:gd name="T60" fmla="*/ 88 w 262"/>
                <a:gd name="T61" fmla="*/ 7 h 198"/>
                <a:gd name="T62" fmla="*/ 90 w 262"/>
                <a:gd name="T63" fmla="*/ 13 h 198"/>
                <a:gd name="T64" fmla="*/ 61 w 262"/>
                <a:gd name="T65" fmla="*/ 27 h 198"/>
                <a:gd name="T66" fmla="*/ 150 w 262"/>
                <a:gd name="T67" fmla="*/ 7 h 198"/>
                <a:gd name="T68" fmla="*/ 116 w 262"/>
                <a:gd name="T69" fmla="*/ 4 h 198"/>
                <a:gd name="T70" fmla="*/ 150 w 262"/>
                <a:gd name="T71" fmla="*/ 1 h 198"/>
                <a:gd name="T72" fmla="*/ 150 w 262"/>
                <a:gd name="T73" fmla="*/ 7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62" h="198">
                  <a:moveTo>
                    <a:pt x="242" y="198"/>
                  </a:moveTo>
                  <a:cubicBezTo>
                    <a:pt x="242" y="198"/>
                    <a:pt x="241" y="198"/>
                    <a:pt x="241" y="198"/>
                  </a:cubicBezTo>
                  <a:cubicBezTo>
                    <a:pt x="239" y="197"/>
                    <a:pt x="239" y="195"/>
                    <a:pt x="239" y="194"/>
                  </a:cubicBezTo>
                  <a:cubicBezTo>
                    <a:pt x="245" y="185"/>
                    <a:pt x="249" y="175"/>
                    <a:pt x="251" y="166"/>
                  </a:cubicBezTo>
                  <a:cubicBezTo>
                    <a:pt x="252" y="164"/>
                    <a:pt x="253" y="163"/>
                    <a:pt x="255" y="164"/>
                  </a:cubicBezTo>
                  <a:cubicBezTo>
                    <a:pt x="257" y="164"/>
                    <a:pt x="258" y="166"/>
                    <a:pt x="257" y="167"/>
                  </a:cubicBezTo>
                  <a:cubicBezTo>
                    <a:pt x="254" y="178"/>
                    <a:pt x="250" y="187"/>
                    <a:pt x="245" y="197"/>
                  </a:cubicBezTo>
                  <a:cubicBezTo>
                    <a:pt x="244" y="198"/>
                    <a:pt x="243" y="198"/>
                    <a:pt x="242" y="198"/>
                  </a:cubicBezTo>
                  <a:close/>
                  <a:moveTo>
                    <a:pt x="16" y="192"/>
                  </a:moveTo>
                  <a:cubicBezTo>
                    <a:pt x="15" y="192"/>
                    <a:pt x="14" y="191"/>
                    <a:pt x="13" y="190"/>
                  </a:cubicBezTo>
                  <a:cubicBezTo>
                    <a:pt x="9" y="181"/>
                    <a:pt x="5" y="170"/>
                    <a:pt x="3" y="160"/>
                  </a:cubicBezTo>
                  <a:cubicBezTo>
                    <a:pt x="2" y="158"/>
                    <a:pt x="3" y="157"/>
                    <a:pt x="5" y="157"/>
                  </a:cubicBezTo>
                  <a:cubicBezTo>
                    <a:pt x="7" y="156"/>
                    <a:pt x="8" y="157"/>
                    <a:pt x="9" y="159"/>
                  </a:cubicBezTo>
                  <a:cubicBezTo>
                    <a:pt x="11" y="169"/>
                    <a:pt x="14" y="178"/>
                    <a:pt x="19" y="187"/>
                  </a:cubicBezTo>
                  <a:cubicBezTo>
                    <a:pt x="20" y="189"/>
                    <a:pt x="19" y="191"/>
                    <a:pt x="17" y="191"/>
                  </a:cubicBezTo>
                  <a:cubicBezTo>
                    <a:pt x="17" y="192"/>
                    <a:pt x="17" y="192"/>
                    <a:pt x="16" y="192"/>
                  </a:cubicBezTo>
                  <a:close/>
                  <a:moveTo>
                    <a:pt x="259" y="139"/>
                  </a:moveTo>
                  <a:cubicBezTo>
                    <a:pt x="259" y="139"/>
                    <a:pt x="259" y="139"/>
                    <a:pt x="259" y="139"/>
                  </a:cubicBezTo>
                  <a:cubicBezTo>
                    <a:pt x="257" y="139"/>
                    <a:pt x="256" y="137"/>
                    <a:pt x="256" y="136"/>
                  </a:cubicBezTo>
                  <a:cubicBezTo>
                    <a:pt x="256" y="134"/>
                    <a:pt x="256" y="133"/>
                    <a:pt x="256" y="131"/>
                  </a:cubicBezTo>
                  <a:cubicBezTo>
                    <a:pt x="256" y="123"/>
                    <a:pt x="255" y="114"/>
                    <a:pt x="253" y="106"/>
                  </a:cubicBezTo>
                  <a:cubicBezTo>
                    <a:pt x="253" y="104"/>
                    <a:pt x="254" y="102"/>
                    <a:pt x="256" y="102"/>
                  </a:cubicBezTo>
                  <a:cubicBezTo>
                    <a:pt x="257" y="102"/>
                    <a:pt x="259" y="103"/>
                    <a:pt x="259" y="104"/>
                  </a:cubicBezTo>
                  <a:cubicBezTo>
                    <a:pt x="261" y="113"/>
                    <a:pt x="262" y="122"/>
                    <a:pt x="262" y="131"/>
                  </a:cubicBezTo>
                  <a:cubicBezTo>
                    <a:pt x="262" y="133"/>
                    <a:pt x="262" y="134"/>
                    <a:pt x="262" y="136"/>
                  </a:cubicBezTo>
                  <a:cubicBezTo>
                    <a:pt x="262" y="138"/>
                    <a:pt x="261" y="139"/>
                    <a:pt x="259" y="139"/>
                  </a:cubicBezTo>
                  <a:close/>
                  <a:moveTo>
                    <a:pt x="3" y="132"/>
                  </a:moveTo>
                  <a:cubicBezTo>
                    <a:pt x="3" y="132"/>
                    <a:pt x="3" y="132"/>
                    <a:pt x="3" y="132"/>
                  </a:cubicBezTo>
                  <a:cubicBezTo>
                    <a:pt x="1" y="131"/>
                    <a:pt x="0" y="130"/>
                    <a:pt x="0" y="128"/>
                  </a:cubicBezTo>
                  <a:cubicBezTo>
                    <a:pt x="0" y="118"/>
                    <a:pt x="1" y="107"/>
                    <a:pt x="4" y="97"/>
                  </a:cubicBezTo>
                  <a:cubicBezTo>
                    <a:pt x="5" y="95"/>
                    <a:pt x="6" y="94"/>
                    <a:pt x="8" y="95"/>
                  </a:cubicBezTo>
                  <a:cubicBezTo>
                    <a:pt x="9" y="95"/>
                    <a:pt x="10" y="97"/>
                    <a:pt x="10" y="99"/>
                  </a:cubicBezTo>
                  <a:cubicBezTo>
                    <a:pt x="7" y="108"/>
                    <a:pt x="6" y="118"/>
                    <a:pt x="6" y="129"/>
                  </a:cubicBezTo>
                  <a:cubicBezTo>
                    <a:pt x="6" y="130"/>
                    <a:pt x="4" y="132"/>
                    <a:pt x="3" y="132"/>
                  </a:cubicBezTo>
                  <a:close/>
                  <a:moveTo>
                    <a:pt x="246" y="79"/>
                  </a:moveTo>
                  <a:cubicBezTo>
                    <a:pt x="245" y="79"/>
                    <a:pt x="244" y="78"/>
                    <a:pt x="244" y="77"/>
                  </a:cubicBezTo>
                  <a:cubicBezTo>
                    <a:pt x="239" y="68"/>
                    <a:pt x="234" y="59"/>
                    <a:pt x="227" y="51"/>
                  </a:cubicBezTo>
                  <a:cubicBezTo>
                    <a:pt x="226" y="50"/>
                    <a:pt x="226" y="48"/>
                    <a:pt x="228" y="47"/>
                  </a:cubicBezTo>
                  <a:cubicBezTo>
                    <a:pt x="229" y="46"/>
                    <a:pt x="231" y="46"/>
                    <a:pt x="232" y="47"/>
                  </a:cubicBezTo>
                  <a:cubicBezTo>
                    <a:pt x="239" y="56"/>
                    <a:pt x="244" y="65"/>
                    <a:pt x="249" y="74"/>
                  </a:cubicBezTo>
                  <a:cubicBezTo>
                    <a:pt x="250" y="76"/>
                    <a:pt x="249" y="77"/>
                    <a:pt x="248" y="78"/>
                  </a:cubicBezTo>
                  <a:cubicBezTo>
                    <a:pt x="247" y="78"/>
                    <a:pt x="247" y="79"/>
                    <a:pt x="246" y="79"/>
                  </a:cubicBezTo>
                  <a:close/>
                  <a:moveTo>
                    <a:pt x="19" y="72"/>
                  </a:moveTo>
                  <a:cubicBezTo>
                    <a:pt x="18" y="72"/>
                    <a:pt x="18" y="72"/>
                    <a:pt x="17" y="72"/>
                  </a:cubicBezTo>
                  <a:cubicBezTo>
                    <a:pt x="16" y="71"/>
                    <a:pt x="15" y="69"/>
                    <a:pt x="16" y="68"/>
                  </a:cubicBezTo>
                  <a:cubicBezTo>
                    <a:pt x="21" y="58"/>
                    <a:pt x="28" y="50"/>
                    <a:pt x="35" y="42"/>
                  </a:cubicBezTo>
                  <a:cubicBezTo>
                    <a:pt x="36" y="41"/>
                    <a:pt x="38" y="41"/>
                    <a:pt x="39" y="42"/>
                  </a:cubicBezTo>
                  <a:cubicBezTo>
                    <a:pt x="40" y="43"/>
                    <a:pt x="40" y="45"/>
                    <a:pt x="39" y="46"/>
                  </a:cubicBezTo>
                  <a:cubicBezTo>
                    <a:pt x="32" y="53"/>
                    <a:pt x="26" y="62"/>
                    <a:pt x="21" y="70"/>
                  </a:cubicBezTo>
                  <a:cubicBezTo>
                    <a:pt x="21" y="71"/>
                    <a:pt x="20" y="72"/>
                    <a:pt x="19" y="72"/>
                  </a:cubicBezTo>
                  <a:close/>
                  <a:moveTo>
                    <a:pt x="207" y="31"/>
                  </a:moveTo>
                  <a:cubicBezTo>
                    <a:pt x="206" y="31"/>
                    <a:pt x="206" y="31"/>
                    <a:pt x="205" y="30"/>
                  </a:cubicBezTo>
                  <a:cubicBezTo>
                    <a:pt x="197" y="24"/>
                    <a:pt x="188" y="19"/>
                    <a:pt x="179" y="16"/>
                  </a:cubicBezTo>
                  <a:cubicBezTo>
                    <a:pt x="177" y="15"/>
                    <a:pt x="177" y="13"/>
                    <a:pt x="177" y="12"/>
                  </a:cubicBezTo>
                  <a:cubicBezTo>
                    <a:pt x="178" y="10"/>
                    <a:pt x="180" y="9"/>
                    <a:pt x="181" y="10"/>
                  </a:cubicBezTo>
                  <a:cubicBezTo>
                    <a:pt x="191" y="14"/>
                    <a:pt x="200" y="19"/>
                    <a:pt x="209" y="26"/>
                  </a:cubicBezTo>
                  <a:cubicBezTo>
                    <a:pt x="210" y="27"/>
                    <a:pt x="210" y="28"/>
                    <a:pt x="209" y="30"/>
                  </a:cubicBezTo>
                  <a:cubicBezTo>
                    <a:pt x="209" y="31"/>
                    <a:pt x="208" y="31"/>
                    <a:pt x="207" y="31"/>
                  </a:cubicBezTo>
                  <a:close/>
                  <a:moveTo>
                    <a:pt x="61" y="27"/>
                  </a:moveTo>
                  <a:cubicBezTo>
                    <a:pt x="60" y="27"/>
                    <a:pt x="59" y="26"/>
                    <a:pt x="58" y="25"/>
                  </a:cubicBezTo>
                  <a:cubicBezTo>
                    <a:pt x="57" y="24"/>
                    <a:pt x="58" y="22"/>
                    <a:pt x="59" y="21"/>
                  </a:cubicBezTo>
                  <a:cubicBezTo>
                    <a:pt x="68" y="16"/>
                    <a:pt x="78" y="11"/>
                    <a:pt x="88" y="7"/>
                  </a:cubicBezTo>
                  <a:cubicBezTo>
                    <a:pt x="89" y="7"/>
                    <a:pt x="91" y="8"/>
                    <a:pt x="91" y="9"/>
                  </a:cubicBezTo>
                  <a:cubicBezTo>
                    <a:pt x="92" y="11"/>
                    <a:pt x="91" y="12"/>
                    <a:pt x="90" y="13"/>
                  </a:cubicBezTo>
                  <a:cubicBezTo>
                    <a:pt x="80" y="16"/>
                    <a:pt x="71" y="21"/>
                    <a:pt x="62" y="26"/>
                  </a:cubicBezTo>
                  <a:cubicBezTo>
                    <a:pt x="62" y="27"/>
                    <a:pt x="61" y="27"/>
                    <a:pt x="61" y="27"/>
                  </a:cubicBezTo>
                  <a:close/>
                  <a:moveTo>
                    <a:pt x="150" y="7"/>
                  </a:moveTo>
                  <a:cubicBezTo>
                    <a:pt x="150" y="7"/>
                    <a:pt x="150" y="7"/>
                    <a:pt x="150" y="7"/>
                  </a:cubicBezTo>
                  <a:cubicBezTo>
                    <a:pt x="140" y="6"/>
                    <a:pt x="129" y="6"/>
                    <a:pt x="119" y="7"/>
                  </a:cubicBezTo>
                  <a:cubicBezTo>
                    <a:pt x="118" y="7"/>
                    <a:pt x="116" y="5"/>
                    <a:pt x="116" y="4"/>
                  </a:cubicBezTo>
                  <a:cubicBezTo>
                    <a:pt x="116" y="2"/>
                    <a:pt x="117" y="1"/>
                    <a:pt x="119" y="1"/>
                  </a:cubicBezTo>
                  <a:cubicBezTo>
                    <a:pt x="129" y="0"/>
                    <a:pt x="140" y="0"/>
                    <a:pt x="150" y="1"/>
                  </a:cubicBezTo>
                  <a:cubicBezTo>
                    <a:pt x="152" y="2"/>
                    <a:pt x="153" y="3"/>
                    <a:pt x="153" y="5"/>
                  </a:cubicBezTo>
                  <a:cubicBezTo>
                    <a:pt x="153" y="6"/>
                    <a:pt x="151" y="7"/>
                    <a:pt x="15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7"/>
            <p:cNvSpPr>
              <a:spLocks/>
            </p:cNvSpPr>
            <p:nvPr/>
          </p:nvSpPr>
          <p:spPr bwMode="auto">
            <a:xfrm>
              <a:off x="403" y="4957"/>
              <a:ext cx="43" cy="41"/>
            </a:xfrm>
            <a:custGeom>
              <a:avLst/>
              <a:gdLst>
                <a:gd name="T0" fmla="*/ 15 w 18"/>
                <a:gd name="T1" fmla="*/ 17 h 17"/>
                <a:gd name="T2" fmla="*/ 13 w 18"/>
                <a:gd name="T3" fmla="*/ 17 h 17"/>
                <a:gd name="T4" fmla="*/ 1 w 18"/>
                <a:gd name="T5" fmla="*/ 5 h 17"/>
                <a:gd name="T6" fmla="*/ 2 w 18"/>
                <a:gd name="T7" fmla="*/ 1 h 17"/>
                <a:gd name="T8" fmla="*/ 6 w 18"/>
                <a:gd name="T9" fmla="*/ 1 h 17"/>
                <a:gd name="T10" fmla="*/ 17 w 18"/>
                <a:gd name="T11" fmla="*/ 12 h 17"/>
                <a:gd name="T12" fmla="*/ 17 w 18"/>
                <a:gd name="T13" fmla="*/ 16 h 17"/>
                <a:gd name="T14" fmla="*/ 15 w 18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7">
                  <a:moveTo>
                    <a:pt x="15" y="17"/>
                  </a:moveTo>
                  <a:cubicBezTo>
                    <a:pt x="14" y="17"/>
                    <a:pt x="13" y="17"/>
                    <a:pt x="13" y="17"/>
                  </a:cubicBezTo>
                  <a:cubicBezTo>
                    <a:pt x="9" y="13"/>
                    <a:pt x="5" y="9"/>
                    <a:pt x="1" y="5"/>
                  </a:cubicBezTo>
                  <a:cubicBezTo>
                    <a:pt x="0" y="4"/>
                    <a:pt x="0" y="2"/>
                    <a:pt x="2" y="1"/>
                  </a:cubicBezTo>
                  <a:cubicBezTo>
                    <a:pt x="3" y="0"/>
                    <a:pt x="5" y="0"/>
                    <a:pt x="6" y="1"/>
                  </a:cubicBezTo>
                  <a:cubicBezTo>
                    <a:pt x="9" y="5"/>
                    <a:pt x="13" y="9"/>
                    <a:pt x="17" y="12"/>
                  </a:cubicBezTo>
                  <a:cubicBezTo>
                    <a:pt x="18" y="13"/>
                    <a:pt x="18" y="15"/>
                    <a:pt x="17" y="16"/>
                  </a:cubicBezTo>
                  <a:cubicBezTo>
                    <a:pt x="16" y="17"/>
                    <a:pt x="16" y="17"/>
                    <a:pt x="1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8"/>
            <p:cNvSpPr>
              <a:spLocks noEditPoints="1"/>
            </p:cNvSpPr>
            <p:nvPr/>
          </p:nvSpPr>
          <p:spPr bwMode="auto">
            <a:xfrm>
              <a:off x="501" y="4633"/>
              <a:ext cx="285" cy="281"/>
            </a:xfrm>
            <a:custGeom>
              <a:avLst/>
              <a:gdLst>
                <a:gd name="T0" fmla="*/ 72 w 119"/>
                <a:gd name="T1" fmla="*/ 116 h 118"/>
                <a:gd name="T2" fmla="*/ 51 w 119"/>
                <a:gd name="T3" fmla="*/ 104 h 118"/>
                <a:gd name="T4" fmla="*/ 41 w 119"/>
                <a:gd name="T5" fmla="*/ 117 h 118"/>
                <a:gd name="T6" fmla="*/ 27 w 119"/>
                <a:gd name="T7" fmla="*/ 110 h 118"/>
                <a:gd name="T8" fmla="*/ 33 w 119"/>
                <a:gd name="T9" fmla="*/ 96 h 118"/>
                <a:gd name="T10" fmla="*/ 9 w 119"/>
                <a:gd name="T11" fmla="*/ 88 h 118"/>
                <a:gd name="T12" fmla="*/ 1 w 119"/>
                <a:gd name="T13" fmla="*/ 73 h 118"/>
                <a:gd name="T14" fmla="*/ 3 w 119"/>
                <a:gd name="T15" fmla="*/ 69 h 118"/>
                <a:gd name="T16" fmla="*/ 15 w 119"/>
                <a:gd name="T17" fmla="*/ 50 h 118"/>
                <a:gd name="T18" fmla="*/ 2 w 119"/>
                <a:gd name="T19" fmla="*/ 41 h 118"/>
                <a:gd name="T20" fmla="*/ 9 w 119"/>
                <a:gd name="T21" fmla="*/ 27 h 118"/>
                <a:gd name="T22" fmla="*/ 23 w 119"/>
                <a:gd name="T23" fmla="*/ 32 h 118"/>
                <a:gd name="T24" fmla="*/ 29 w 119"/>
                <a:gd name="T25" fmla="*/ 10 h 118"/>
                <a:gd name="T26" fmla="*/ 31 w 119"/>
                <a:gd name="T27" fmla="*/ 6 h 118"/>
                <a:gd name="T28" fmla="*/ 47 w 119"/>
                <a:gd name="T29" fmla="*/ 2 h 118"/>
                <a:gd name="T30" fmla="*/ 69 w 119"/>
                <a:gd name="T31" fmla="*/ 14 h 118"/>
                <a:gd name="T32" fmla="*/ 78 w 119"/>
                <a:gd name="T33" fmla="*/ 1 h 118"/>
                <a:gd name="T34" fmla="*/ 92 w 119"/>
                <a:gd name="T35" fmla="*/ 8 h 118"/>
                <a:gd name="T36" fmla="*/ 87 w 119"/>
                <a:gd name="T37" fmla="*/ 22 h 118"/>
                <a:gd name="T38" fmla="*/ 111 w 119"/>
                <a:gd name="T39" fmla="*/ 31 h 118"/>
                <a:gd name="T40" fmla="*/ 119 w 119"/>
                <a:gd name="T41" fmla="*/ 45 h 118"/>
                <a:gd name="T42" fmla="*/ 117 w 119"/>
                <a:gd name="T43" fmla="*/ 49 h 118"/>
                <a:gd name="T44" fmla="*/ 105 w 119"/>
                <a:gd name="T45" fmla="*/ 69 h 118"/>
                <a:gd name="T46" fmla="*/ 118 w 119"/>
                <a:gd name="T47" fmla="*/ 75 h 118"/>
                <a:gd name="T48" fmla="*/ 112 w 119"/>
                <a:gd name="T49" fmla="*/ 90 h 118"/>
                <a:gd name="T50" fmla="*/ 97 w 119"/>
                <a:gd name="T51" fmla="*/ 86 h 118"/>
                <a:gd name="T52" fmla="*/ 90 w 119"/>
                <a:gd name="T53" fmla="*/ 109 h 118"/>
                <a:gd name="T54" fmla="*/ 89 w 119"/>
                <a:gd name="T55" fmla="*/ 113 h 118"/>
                <a:gd name="T56" fmla="*/ 75 w 119"/>
                <a:gd name="T57" fmla="*/ 118 h 118"/>
                <a:gd name="T58" fmla="*/ 72 w 119"/>
                <a:gd name="T59" fmla="*/ 100 h 118"/>
                <a:gd name="T60" fmla="*/ 84 w 119"/>
                <a:gd name="T61" fmla="*/ 108 h 118"/>
                <a:gd name="T62" fmla="*/ 80 w 119"/>
                <a:gd name="T63" fmla="*/ 93 h 118"/>
                <a:gd name="T64" fmla="*/ 97 w 119"/>
                <a:gd name="T65" fmla="*/ 80 h 118"/>
                <a:gd name="T66" fmla="*/ 111 w 119"/>
                <a:gd name="T67" fmla="*/ 78 h 118"/>
                <a:gd name="T68" fmla="*/ 98 w 119"/>
                <a:gd name="T69" fmla="*/ 69 h 118"/>
                <a:gd name="T70" fmla="*/ 101 w 119"/>
                <a:gd name="T71" fmla="*/ 48 h 118"/>
                <a:gd name="T72" fmla="*/ 110 w 119"/>
                <a:gd name="T73" fmla="*/ 37 h 118"/>
                <a:gd name="T74" fmla="*/ 95 w 119"/>
                <a:gd name="T75" fmla="*/ 40 h 118"/>
                <a:gd name="T76" fmla="*/ 80 w 119"/>
                <a:gd name="T77" fmla="*/ 22 h 118"/>
                <a:gd name="T78" fmla="*/ 79 w 119"/>
                <a:gd name="T79" fmla="*/ 8 h 118"/>
                <a:gd name="T80" fmla="*/ 70 w 119"/>
                <a:gd name="T81" fmla="*/ 21 h 118"/>
                <a:gd name="T82" fmla="*/ 47 w 119"/>
                <a:gd name="T83" fmla="*/ 19 h 118"/>
                <a:gd name="T84" fmla="*/ 36 w 119"/>
                <a:gd name="T85" fmla="*/ 10 h 118"/>
                <a:gd name="T86" fmla="*/ 39 w 119"/>
                <a:gd name="T87" fmla="*/ 25 h 118"/>
                <a:gd name="T88" fmla="*/ 23 w 119"/>
                <a:gd name="T89" fmla="*/ 39 h 118"/>
                <a:gd name="T90" fmla="*/ 9 w 119"/>
                <a:gd name="T91" fmla="*/ 40 h 118"/>
                <a:gd name="T92" fmla="*/ 21 w 119"/>
                <a:gd name="T93" fmla="*/ 49 h 118"/>
                <a:gd name="T94" fmla="*/ 19 w 119"/>
                <a:gd name="T95" fmla="*/ 70 h 118"/>
                <a:gd name="T96" fmla="*/ 10 w 119"/>
                <a:gd name="T97" fmla="*/ 81 h 118"/>
                <a:gd name="T98" fmla="*/ 25 w 119"/>
                <a:gd name="T99" fmla="*/ 78 h 118"/>
                <a:gd name="T100" fmla="*/ 39 w 119"/>
                <a:gd name="T101" fmla="*/ 96 h 118"/>
                <a:gd name="T102" fmla="*/ 41 w 119"/>
                <a:gd name="T103" fmla="*/ 110 h 118"/>
                <a:gd name="T104" fmla="*/ 50 w 119"/>
                <a:gd name="T105" fmla="*/ 98 h 118"/>
                <a:gd name="T106" fmla="*/ 69 w 119"/>
                <a:gd name="T107" fmla="*/ 98 h 118"/>
                <a:gd name="T108" fmla="*/ 54 w 119"/>
                <a:gd name="T109" fmla="*/ 84 h 118"/>
                <a:gd name="T110" fmla="*/ 38 w 119"/>
                <a:gd name="T111" fmla="*/ 73 h 118"/>
                <a:gd name="T112" fmla="*/ 66 w 119"/>
                <a:gd name="T113" fmla="*/ 34 h 118"/>
                <a:gd name="T114" fmla="*/ 60 w 119"/>
                <a:gd name="T115" fmla="*/ 85 h 118"/>
                <a:gd name="T116" fmla="*/ 41 w 119"/>
                <a:gd name="T117" fmla="*/ 55 h 118"/>
                <a:gd name="T118" fmla="*/ 55 w 119"/>
                <a:gd name="T119" fmla="*/ 78 h 118"/>
                <a:gd name="T120" fmla="*/ 79 w 119"/>
                <a:gd name="T121" fmla="*/ 64 h 118"/>
                <a:gd name="T122" fmla="*/ 60 w 119"/>
                <a:gd name="T123" fmla="*/ 39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9" h="118">
                  <a:moveTo>
                    <a:pt x="75" y="118"/>
                  </a:moveTo>
                  <a:cubicBezTo>
                    <a:pt x="74" y="118"/>
                    <a:pt x="73" y="117"/>
                    <a:pt x="72" y="116"/>
                  </a:cubicBezTo>
                  <a:cubicBezTo>
                    <a:pt x="68" y="104"/>
                    <a:pt x="68" y="104"/>
                    <a:pt x="68" y="104"/>
                  </a:cubicBezTo>
                  <a:cubicBezTo>
                    <a:pt x="62" y="105"/>
                    <a:pt x="56" y="105"/>
                    <a:pt x="51" y="104"/>
                  </a:cubicBezTo>
                  <a:cubicBezTo>
                    <a:pt x="45" y="116"/>
                    <a:pt x="45" y="116"/>
                    <a:pt x="45" y="116"/>
                  </a:cubicBezTo>
                  <a:cubicBezTo>
                    <a:pt x="45" y="117"/>
                    <a:pt x="43" y="118"/>
                    <a:pt x="41" y="117"/>
                  </a:cubicBezTo>
                  <a:cubicBezTo>
                    <a:pt x="29" y="112"/>
                    <a:pt x="29" y="112"/>
                    <a:pt x="29" y="112"/>
                  </a:cubicBezTo>
                  <a:cubicBezTo>
                    <a:pt x="28" y="111"/>
                    <a:pt x="28" y="111"/>
                    <a:pt x="27" y="110"/>
                  </a:cubicBezTo>
                  <a:cubicBezTo>
                    <a:pt x="27" y="109"/>
                    <a:pt x="27" y="108"/>
                    <a:pt x="28" y="108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28" y="93"/>
                    <a:pt x="24" y="88"/>
                    <a:pt x="21" y="84"/>
                  </a:cubicBezTo>
                  <a:cubicBezTo>
                    <a:pt x="9" y="88"/>
                    <a:pt x="9" y="88"/>
                    <a:pt x="9" y="88"/>
                  </a:cubicBezTo>
                  <a:cubicBezTo>
                    <a:pt x="8" y="88"/>
                    <a:pt x="6" y="88"/>
                    <a:pt x="5" y="86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0" y="73"/>
                    <a:pt x="0" y="72"/>
                    <a:pt x="1" y="71"/>
                  </a:cubicBezTo>
                  <a:cubicBezTo>
                    <a:pt x="1" y="70"/>
                    <a:pt x="2" y="70"/>
                    <a:pt x="3" y="69"/>
                  </a:cubicBezTo>
                  <a:cubicBezTo>
                    <a:pt x="14" y="65"/>
                    <a:pt x="14" y="65"/>
                    <a:pt x="14" y="65"/>
                  </a:cubicBezTo>
                  <a:cubicBezTo>
                    <a:pt x="14" y="60"/>
                    <a:pt x="14" y="55"/>
                    <a:pt x="15" y="50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2" y="44"/>
                    <a:pt x="1" y="42"/>
                    <a:pt x="2" y="41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8" y="28"/>
                    <a:pt x="8" y="27"/>
                    <a:pt x="9" y="27"/>
                  </a:cubicBezTo>
                  <a:cubicBezTo>
                    <a:pt x="10" y="27"/>
                    <a:pt x="11" y="27"/>
                    <a:pt x="11" y="27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6" y="28"/>
                    <a:pt x="30" y="24"/>
                    <a:pt x="34" y="21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9"/>
                    <a:pt x="29" y="8"/>
                    <a:pt x="29" y="7"/>
                  </a:cubicBezTo>
                  <a:cubicBezTo>
                    <a:pt x="30" y="7"/>
                    <a:pt x="30" y="6"/>
                    <a:pt x="31" y="6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5" y="0"/>
                    <a:pt x="47" y="1"/>
                    <a:pt x="47" y="2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58" y="13"/>
                    <a:pt x="64" y="13"/>
                    <a:pt x="69" y="1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5" y="1"/>
                    <a:pt x="77" y="1"/>
                    <a:pt x="78" y="1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2" y="8"/>
                    <a:pt x="92" y="8"/>
                  </a:cubicBezTo>
                  <a:cubicBezTo>
                    <a:pt x="92" y="9"/>
                    <a:pt x="92" y="10"/>
                    <a:pt x="92" y="11"/>
                  </a:cubicBezTo>
                  <a:cubicBezTo>
                    <a:pt x="87" y="22"/>
                    <a:pt x="87" y="22"/>
                    <a:pt x="87" y="22"/>
                  </a:cubicBezTo>
                  <a:cubicBezTo>
                    <a:pt x="92" y="26"/>
                    <a:pt x="96" y="30"/>
                    <a:pt x="99" y="35"/>
                  </a:cubicBezTo>
                  <a:cubicBezTo>
                    <a:pt x="111" y="31"/>
                    <a:pt x="111" y="31"/>
                    <a:pt x="111" y="31"/>
                  </a:cubicBezTo>
                  <a:cubicBezTo>
                    <a:pt x="112" y="30"/>
                    <a:pt x="114" y="31"/>
                    <a:pt x="114" y="32"/>
                  </a:cubicBezTo>
                  <a:cubicBezTo>
                    <a:pt x="119" y="45"/>
                    <a:pt x="119" y="45"/>
                    <a:pt x="119" y="45"/>
                  </a:cubicBezTo>
                  <a:cubicBezTo>
                    <a:pt x="119" y="46"/>
                    <a:pt x="119" y="47"/>
                    <a:pt x="119" y="47"/>
                  </a:cubicBezTo>
                  <a:cubicBezTo>
                    <a:pt x="119" y="48"/>
                    <a:pt x="118" y="49"/>
                    <a:pt x="117" y="49"/>
                  </a:cubicBezTo>
                  <a:cubicBezTo>
                    <a:pt x="105" y="53"/>
                    <a:pt x="105" y="53"/>
                    <a:pt x="105" y="53"/>
                  </a:cubicBezTo>
                  <a:cubicBezTo>
                    <a:pt x="106" y="58"/>
                    <a:pt x="106" y="64"/>
                    <a:pt x="105" y="69"/>
                  </a:cubicBezTo>
                  <a:cubicBezTo>
                    <a:pt x="116" y="74"/>
                    <a:pt x="116" y="74"/>
                    <a:pt x="116" y="74"/>
                  </a:cubicBezTo>
                  <a:cubicBezTo>
                    <a:pt x="117" y="74"/>
                    <a:pt x="118" y="75"/>
                    <a:pt x="118" y="75"/>
                  </a:cubicBezTo>
                  <a:cubicBezTo>
                    <a:pt x="118" y="76"/>
                    <a:pt x="118" y="77"/>
                    <a:pt x="118" y="78"/>
                  </a:cubicBezTo>
                  <a:cubicBezTo>
                    <a:pt x="112" y="90"/>
                    <a:pt x="112" y="90"/>
                    <a:pt x="112" y="90"/>
                  </a:cubicBezTo>
                  <a:cubicBezTo>
                    <a:pt x="112" y="92"/>
                    <a:pt x="110" y="92"/>
                    <a:pt x="108" y="92"/>
                  </a:cubicBezTo>
                  <a:cubicBezTo>
                    <a:pt x="97" y="86"/>
                    <a:pt x="97" y="86"/>
                    <a:pt x="97" y="86"/>
                  </a:cubicBezTo>
                  <a:cubicBezTo>
                    <a:pt x="94" y="90"/>
                    <a:pt x="90" y="94"/>
                    <a:pt x="86" y="97"/>
                  </a:cubicBezTo>
                  <a:cubicBezTo>
                    <a:pt x="90" y="109"/>
                    <a:pt x="90" y="109"/>
                    <a:pt x="90" y="109"/>
                  </a:cubicBezTo>
                  <a:cubicBezTo>
                    <a:pt x="91" y="109"/>
                    <a:pt x="91" y="110"/>
                    <a:pt x="90" y="111"/>
                  </a:cubicBezTo>
                  <a:cubicBezTo>
                    <a:pt x="90" y="112"/>
                    <a:pt x="90" y="112"/>
                    <a:pt x="89" y="113"/>
                  </a:cubicBezTo>
                  <a:cubicBezTo>
                    <a:pt x="76" y="118"/>
                    <a:pt x="76" y="118"/>
                    <a:pt x="76" y="118"/>
                  </a:cubicBezTo>
                  <a:cubicBezTo>
                    <a:pt x="76" y="118"/>
                    <a:pt x="76" y="118"/>
                    <a:pt x="75" y="118"/>
                  </a:cubicBezTo>
                  <a:close/>
                  <a:moveTo>
                    <a:pt x="69" y="98"/>
                  </a:moveTo>
                  <a:cubicBezTo>
                    <a:pt x="71" y="98"/>
                    <a:pt x="72" y="99"/>
                    <a:pt x="72" y="10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84" y="108"/>
                    <a:pt x="84" y="108"/>
                    <a:pt x="84" y="108"/>
                  </a:cubicBezTo>
                  <a:cubicBezTo>
                    <a:pt x="79" y="97"/>
                    <a:pt x="79" y="97"/>
                    <a:pt x="79" y="97"/>
                  </a:cubicBezTo>
                  <a:cubicBezTo>
                    <a:pt x="79" y="96"/>
                    <a:pt x="79" y="94"/>
                    <a:pt x="80" y="93"/>
                  </a:cubicBezTo>
                  <a:cubicBezTo>
                    <a:pt x="86" y="90"/>
                    <a:pt x="90" y="86"/>
                    <a:pt x="93" y="81"/>
                  </a:cubicBezTo>
                  <a:cubicBezTo>
                    <a:pt x="94" y="80"/>
                    <a:pt x="96" y="79"/>
                    <a:pt x="97" y="80"/>
                  </a:cubicBezTo>
                  <a:cubicBezTo>
                    <a:pt x="108" y="85"/>
                    <a:pt x="108" y="85"/>
                    <a:pt x="108" y="85"/>
                  </a:cubicBezTo>
                  <a:cubicBezTo>
                    <a:pt x="111" y="78"/>
                    <a:pt x="111" y="78"/>
                    <a:pt x="111" y="78"/>
                  </a:cubicBezTo>
                  <a:cubicBezTo>
                    <a:pt x="100" y="73"/>
                    <a:pt x="100" y="73"/>
                    <a:pt x="100" y="73"/>
                  </a:cubicBezTo>
                  <a:cubicBezTo>
                    <a:pt x="99" y="72"/>
                    <a:pt x="98" y="71"/>
                    <a:pt x="98" y="69"/>
                  </a:cubicBezTo>
                  <a:cubicBezTo>
                    <a:pt x="100" y="64"/>
                    <a:pt x="100" y="58"/>
                    <a:pt x="99" y="52"/>
                  </a:cubicBezTo>
                  <a:cubicBezTo>
                    <a:pt x="99" y="50"/>
                    <a:pt x="99" y="49"/>
                    <a:pt x="101" y="48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7" y="42"/>
                    <a:pt x="95" y="41"/>
                    <a:pt x="95" y="40"/>
                  </a:cubicBezTo>
                  <a:cubicBezTo>
                    <a:pt x="92" y="34"/>
                    <a:pt x="87" y="29"/>
                    <a:pt x="82" y="26"/>
                  </a:cubicBezTo>
                  <a:cubicBezTo>
                    <a:pt x="80" y="25"/>
                    <a:pt x="80" y="24"/>
                    <a:pt x="80" y="22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79" y="8"/>
                    <a:pt x="79" y="8"/>
                    <a:pt x="79" y="8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3" y="20"/>
                    <a:pt x="72" y="21"/>
                    <a:pt x="70" y="21"/>
                  </a:cubicBezTo>
                  <a:cubicBezTo>
                    <a:pt x="64" y="19"/>
                    <a:pt x="57" y="19"/>
                    <a:pt x="51" y="20"/>
                  </a:cubicBezTo>
                  <a:cubicBezTo>
                    <a:pt x="49" y="21"/>
                    <a:pt x="48" y="20"/>
                    <a:pt x="47" y="19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3"/>
                    <a:pt x="41" y="24"/>
                    <a:pt x="39" y="25"/>
                  </a:cubicBezTo>
                  <a:cubicBezTo>
                    <a:pt x="34" y="28"/>
                    <a:pt x="30" y="32"/>
                    <a:pt x="27" y="37"/>
                  </a:cubicBezTo>
                  <a:cubicBezTo>
                    <a:pt x="26" y="39"/>
                    <a:pt x="24" y="39"/>
                    <a:pt x="23" y="39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2" y="48"/>
                    <a:pt x="21" y="49"/>
                  </a:cubicBezTo>
                  <a:cubicBezTo>
                    <a:pt x="20" y="55"/>
                    <a:pt x="20" y="61"/>
                    <a:pt x="21" y="67"/>
                  </a:cubicBezTo>
                  <a:cubicBezTo>
                    <a:pt x="21" y="68"/>
                    <a:pt x="20" y="69"/>
                    <a:pt x="19" y="70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3" y="77"/>
                    <a:pt x="24" y="77"/>
                    <a:pt x="25" y="78"/>
                  </a:cubicBezTo>
                  <a:cubicBezTo>
                    <a:pt x="28" y="84"/>
                    <a:pt x="33" y="89"/>
                    <a:pt x="38" y="93"/>
                  </a:cubicBezTo>
                  <a:cubicBezTo>
                    <a:pt x="39" y="93"/>
                    <a:pt x="40" y="95"/>
                    <a:pt x="39" y="96"/>
                  </a:cubicBezTo>
                  <a:cubicBezTo>
                    <a:pt x="34" y="107"/>
                    <a:pt x="34" y="107"/>
                    <a:pt x="34" y="107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6" y="99"/>
                    <a:pt x="46" y="99"/>
                    <a:pt x="46" y="99"/>
                  </a:cubicBezTo>
                  <a:cubicBezTo>
                    <a:pt x="47" y="98"/>
                    <a:pt x="48" y="97"/>
                    <a:pt x="50" y="98"/>
                  </a:cubicBezTo>
                  <a:cubicBezTo>
                    <a:pt x="56" y="99"/>
                    <a:pt x="63" y="99"/>
                    <a:pt x="69" y="98"/>
                  </a:cubicBezTo>
                  <a:cubicBezTo>
                    <a:pt x="69" y="98"/>
                    <a:pt x="69" y="98"/>
                    <a:pt x="69" y="98"/>
                  </a:cubicBezTo>
                  <a:close/>
                  <a:moveTo>
                    <a:pt x="60" y="85"/>
                  </a:moveTo>
                  <a:cubicBezTo>
                    <a:pt x="58" y="85"/>
                    <a:pt x="56" y="85"/>
                    <a:pt x="54" y="84"/>
                  </a:cubicBezTo>
                  <a:cubicBezTo>
                    <a:pt x="54" y="84"/>
                    <a:pt x="54" y="84"/>
                    <a:pt x="54" y="84"/>
                  </a:cubicBezTo>
                  <a:cubicBezTo>
                    <a:pt x="47" y="83"/>
                    <a:pt x="42" y="79"/>
                    <a:pt x="38" y="73"/>
                  </a:cubicBezTo>
                  <a:cubicBezTo>
                    <a:pt x="34" y="67"/>
                    <a:pt x="33" y="60"/>
                    <a:pt x="35" y="53"/>
                  </a:cubicBezTo>
                  <a:cubicBezTo>
                    <a:pt x="38" y="39"/>
                    <a:pt x="52" y="31"/>
                    <a:pt x="66" y="34"/>
                  </a:cubicBezTo>
                  <a:cubicBezTo>
                    <a:pt x="80" y="37"/>
                    <a:pt x="88" y="51"/>
                    <a:pt x="85" y="65"/>
                  </a:cubicBezTo>
                  <a:cubicBezTo>
                    <a:pt x="82" y="77"/>
                    <a:pt x="72" y="85"/>
                    <a:pt x="60" y="85"/>
                  </a:cubicBezTo>
                  <a:close/>
                  <a:moveTo>
                    <a:pt x="60" y="39"/>
                  </a:moveTo>
                  <a:cubicBezTo>
                    <a:pt x="51" y="39"/>
                    <a:pt x="43" y="46"/>
                    <a:pt x="41" y="55"/>
                  </a:cubicBezTo>
                  <a:cubicBezTo>
                    <a:pt x="39" y="60"/>
                    <a:pt x="40" y="65"/>
                    <a:pt x="43" y="70"/>
                  </a:cubicBezTo>
                  <a:cubicBezTo>
                    <a:pt x="46" y="74"/>
                    <a:pt x="50" y="77"/>
                    <a:pt x="55" y="78"/>
                  </a:cubicBezTo>
                  <a:cubicBezTo>
                    <a:pt x="55" y="78"/>
                    <a:pt x="55" y="78"/>
                    <a:pt x="55" y="78"/>
                  </a:cubicBezTo>
                  <a:cubicBezTo>
                    <a:pt x="66" y="81"/>
                    <a:pt x="77" y="74"/>
                    <a:pt x="79" y="64"/>
                  </a:cubicBezTo>
                  <a:cubicBezTo>
                    <a:pt x="82" y="53"/>
                    <a:pt x="75" y="42"/>
                    <a:pt x="64" y="40"/>
                  </a:cubicBezTo>
                  <a:cubicBezTo>
                    <a:pt x="63" y="40"/>
                    <a:pt x="61" y="39"/>
                    <a:pt x="6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9"/>
            <p:cNvSpPr>
              <a:spLocks noEditPoints="1"/>
            </p:cNvSpPr>
            <p:nvPr/>
          </p:nvSpPr>
          <p:spPr bwMode="auto">
            <a:xfrm>
              <a:off x="413" y="4545"/>
              <a:ext cx="464" cy="520"/>
            </a:xfrm>
            <a:custGeom>
              <a:avLst/>
              <a:gdLst>
                <a:gd name="T0" fmla="*/ 141 w 194"/>
                <a:gd name="T1" fmla="*/ 218 h 218"/>
                <a:gd name="T2" fmla="*/ 52 w 194"/>
                <a:gd name="T3" fmla="*/ 218 h 218"/>
                <a:gd name="T4" fmla="*/ 49 w 194"/>
                <a:gd name="T5" fmla="*/ 215 h 218"/>
                <a:gd name="T6" fmla="*/ 49 w 194"/>
                <a:gd name="T7" fmla="*/ 183 h 218"/>
                <a:gd name="T8" fmla="*/ 41 w 194"/>
                <a:gd name="T9" fmla="*/ 175 h 218"/>
                <a:gd name="T10" fmla="*/ 0 w 194"/>
                <a:gd name="T11" fmla="*/ 97 h 218"/>
                <a:gd name="T12" fmla="*/ 97 w 194"/>
                <a:gd name="T13" fmla="*/ 0 h 218"/>
                <a:gd name="T14" fmla="*/ 194 w 194"/>
                <a:gd name="T15" fmla="*/ 97 h 218"/>
                <a:gd name="T16" fmla="*/ 152 w 194"/>
                <a:gd name="T17" fmla="*/ 176 h 218"/>
                <a:gd name="T18" fmla="*/ 144 w 194"/>
                <a:gd name="T19" fmla="*/ 191 h 218"/>
                <a:gd name="T20" fmla="*/ 144 w 194"/>
                <a:gd name="T21" fmla="*/ 215 h 218"/>
                <a:gd name="T22" fmla="*/ 141 w 194"/>
                <a:gd name="T23" fmla="*/ 218 h 218"/>
                <a:gd name="T24" fmla="*/ 55 w 194"/>
                <a:gd name="T25" fmla="*/ 212 h 218"/>
                <a:gd name="T26" fmla="*/ 138 w 194"/>
                <a:gd name="T27" fmla="*/ 212 h 218"/>
                <a:gd name="T28" fmla="*/ 138 w 194"/>
                <a:gd name="T29" fmla="*/ 191 h 218"/>
                <a:gd name="T30" fmla="*/ 149 w 194"/>
                <a:gd name="T31" fmla="*/ 171 h 218"/>
                <a:gd name="T32" fmla="*/ 188 w 194"/>
                <a:gd name="T33" fmla="*/ 97 h 218"/>
                <a:gd name="T34" fmla="*/ 97 w 194"/>
                <a:gd name="T35" fmla="*/ 6 h 218"/>
                <a:gd name="T36" fmla="*/ 6 w 194"/>
                <a:gd name="T37" fmla="*/ 97 h 218"/>
                <a:gd name="T38" fmla="*/ 44 w 194"/>
                <a:gd name="T39" fmla="*/ 170 h 218"/>
                <a:gd name="T40" fmla="*/ 55 w 194"/>
                <a:gd name="T41" fmla="*/ 181 h 218"/>
                <a:gd name="T42" fmla="*/ 55 w 194"/>
                <a:gd name="T43" fmla="*/ 182 h 218"/>
                <a:gd name="T44" fmla="*/ 55 w 194"/>
                <a:gd name="T45" fmla="*/ 212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4" h="218">
                  <a:moveTo>
                    <a:pt x="141" y="218"/>
                  </a:moveTo>
                  <a:cubicBezTo>
                    <a:pt x="52" y="218"/>
                    <a:pt x="52" y="218"/>
                    <a:pt x="52" y="218"/>
                  </a:cubicBezTo>
                  <a:cubicBezTo>
                    <a:pt x="51" y="218"/>
                    <a:pt x="49" y="217"/>
                    <a:pt x="49" y="215"/>
                  </a:cubicBezTo>
                  <a:cubicBezTo>
                    <a:pt x="49" y="183"/>
                    <a:pt x="49" y="183"/>
                    <a:pt x="49" y="183"/>
                  </a:cubicBezTo>
                  <a:cubicBezTo>
                    <a:pt x="49" y="182"/>
                    <a:pt x="47" y="179"/>
                    <a:pt x="41" y="175"/>
                  </a:cubicBezTo>
                  <a:cubicBezTo>
                    <a:pt x="15" y="158"/>
                    <a:pt x="0" y="128"/>
                    <a:pt x="0" y="97"/>
                  </a:cubicBezTo>
                  <a:cubicBezTo>
                    <a:pt x="0" y="43"/>
                    <a:pt x="43" y="0"/>
                    <a:pt x="97" y="0"/>
                  </a:cubicBezTo>
                  <a:cubicBezTo>
                    <a:pt x="150" y="0"/>
                    <a:pt x="194" y="43"/>
                    <a:pt x="194" y="97"/>
                  </a:cubicBezTo>
                  <a:cubicBezTo>
                    <a:pt x="194" y="129"/>
                    <a:pt x="178" y="160"/>
                    <a:pt x="152" y="176"/>
                  </a:cubicBezTo>
                  <a:cubicBezTo>
                    <a:pt x="144" y="181"/>
                    <a:pt x="144" y="191"/>
                    <a:pt x="144" y="191"/>
                  </a:cubicBezTo>
                  <a:cubicBezTo>
                    <a:pt x="144" y="215"/>
                    <a:pt x="144" y="215"/>
                    <a:pt x="144" y="215"/>
                  </a:cubicBezTo>
                  <a:cubicBezTo>
                    <a:pt x="144" y="217"/>
                    <a:pt x="143" y="218"/>
                    <a:pt x="141" y="218"/>
                  </a:cubicBezTo>
                  <a:close/>
                  <a:moveTo>
                    <a:pt x="55" y="212"/>
                  </a:moveTo>
                  <a:cubicBezTo>
                    <a:pt x="138" y="212"/>
                    <a:pt x="138" y="212"/>
                    <a:pt x="138" y="212"/>
                  </a:cubicBezTo>
                  <a:cubicBezTo>
                    <a:pt x="138" y="191"/>
                    <a:pt x="138" y="191"/>
                    <a:pt x="138" y="191"/>
                  </a:cubicBezTo>
                  <a:cubicBezTo>
                    <a:pt x="138" y="191"/>
                    <a:pt x="137" y="178"/>
                    <a:pt x="149" y="171"/>
                  </a:cubicBezTo>
                  <a:cubicBezTo>
                    <a:pt x="173" y="156"/>
                    <a:pt x="188" y="127"/>
                    <a:pt x="188" y="97"/>
                  </a:cubicBezTo>
                  <a:cubicBezTo>
                    <a:pt x="188" y="46"/>
                    <a:pt x="147" y="6"/>
                    <a:pt x="97" y="6"/>
                  </a:cubicBezTo>
                  <a:cubicBezTo>
                    <a:pt x="47" y="6"/>
                    <a:pt x="6" y="46"/>
                    <a:pt x="6" y="97"/>
                  </a:cubicBezTo>
                  <a:cubicBezTo>
                    <a:pt x="6" y="126"/>
                    <a:pt x="20" y="154"/>
                    <a:pt x="44" y="170"/>
                  </a:cubicBezTo>
                  <a:cubicBezTo>
                    <a:pt x="53" y="176"/>
                    <a:pt x="55" y="180"/>
                    <a:pt x="55" y="181"/>
                  </a:cubicBezTo>
                  <a:cubicBezTo>
                    <a:pt x="55" y="181"/>
                    <a:pt x="55" y="182"/>
                    <a:pt x="55" y="182"/>
                  </a:cubicBezTo>
                  <a:lnTo>
                    <a:pt x="55" y="2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10"/>
            <p:cNvSpPr>
              <a:spLocks/>
            </p:cNvSpPr>
            <p:nvPr/>
          </p:nvSpPr>
          <p:spPr bwMode="auto">
            <a:xfrm>
              <a:off x="537" y="5112"/>
              <a:ext cx="215" cy="15"/>
            </a:xfrm>
            <a:custGeom>
              <a:avLst/>
              <a:gdLst>
                <a:gd name="T0" fmla="*/ 87 w 90"/>
                <a:gd name="T1" fmla="*/ 6 h 6"/>
                <a:gd name="T2" fmla="*/ 3 w 90"/>
                <a:gd name="T3" fmla="*/ 6 h 6"/>
                <a:gd name="T4" fmla="*/ 0 w 90"/>
                <a:gd name="T5" fmla="*/ 3 h 6"/>
                <a:gd name="T6" fmla="*/ 3 w 90"/>
                <a:gd name="T7" fmla="*/ 0 h 6"/>
                <a:gd name="T8" fmla="*/ 87 w 90"/>
                <a:gd name="T9" fmla="*/ 0 h 6"/>
                <a:gd name="T10" fmla="*/ 90 w 90"/>
                <a:gd name="T11" fmla="*/ 3 h 6"/>
                <a:gd name="T12" fmla="*/ 87 w 9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6">
                  <a:moveTo>
                    <a:pt x="87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9" y="0"/>
                    <a:pt x="90" y="2"/>
                    <a:pt x="90" y="3"/>
                  </a:cubicBezTo>
                  <a:cubicBezTo>
                    <a:pt x="90" y="5"/>
                    <a:pt x="89" y="6"/>
                    <a:pt x="8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Freeform 11"/>
            <p:cNvSpPr>
              <a:spLocks/>
            </p:cNvSpPr>
            <p:nvPr/>
          </p:nvSpPr>
          <p:spPr bwMode="auto">
            <a:xfrm>
              <a:off x="573" y="5174"/>
              <a:ext cx="141" cy="15"/>
            </a:xfrm>
            <a:custGeom>
              <a:avLst/>
              <a:gdLst>
                <a:gd name="T0" fmla="*/ 56 w 59"/>
                <a:gd name="T1" fmla="*/ 6 h 6"/>
                <a:gd name="T2" fmla="*/ 3 w 59"/>
                <a:gd name="T3" fmla="*/ 6 h 6"/>
                <a:gd name="T4" fmla="*/ 0 w 59"/>
                <a:gd name="T5" fmla="*/ 3 h 6"/>
                <a:gd name="T6" fmla="*/ 3 w 59"/>
                <a:gd name="T7" fmla="*/ 0 h 6"/>
                <a:gd name="T8" fmla="*/ 56 w 59"/>
                <a:gd name="T9" fmla="*/ 0 h 6"/>
                <a:gd name="T10" fmla="*/ 59 w 59"/>
                <a:gd name="T11" fmla="*/ 3 h 6"/>
                <a:gd name="T12" fmla="*/ 56 w 59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6">
                  <a:moveTo>
                    <a:pt x="56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8" y="0"/>
                    <a:pt x="59" y="1"/>
                    <a:pt x="59" y="3"/>
                  </a:cubicBezTo>
                  <a:cubicBezTo>
                    <a:pt x="59" y="4"/>
                    <a:pt x="58" y="6"/>
                    <a:pt x="5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7" name="Group 88"/>
          <p:cNvGrpSpPr/>
          <p:nvPr/>
        </p:nvGrpSpPr>
        <p:grpSpPr>
          <a:xfrm>
            <a:off x="4934264" y="4451393"/>
            <a:ext cx="676157" cy="639737"/>
            <a:chOff x="13655675" y="2200275"/>
            <a:chExt cx="677862" cy="641350"/>
          </a:xfrm>
        </p:grpSpPr>
        <p:sp>
          <p:nvSpPr>
            <p:cNvPr id="88" name="Freeform 48"/>
            <p:cNvSpPr>
              <a:spLocks/>
            </p:cNvSpPr>
            <p:nvPr/>
          </p:nvSpPr>
          <p:spPr bwMode="auto">
            <a:xfrm>
              <a:off x="13747750" y="2352675"/>
              <a:ext cx="166687" cy="92075"/>
            </a:xfrm>
            <a:custGeom>
              <a:avLst/>
              <a:gdLst>
                <a:gd name="T0" fmla="*/ 0 w 105"/>
                <a:gd name="T1" fmla="*/ 0 h 58"/>
                <a:gd name="T2" fmla="*/ 38 w 105"/>
                <a:gd name="T3" fmla="*/ 0 h 58"/>
                <a:gd name="T4" fmla="*/ 76 w 105"/>
                <a:gd name="T5" fmla="*/ 58 h 58"/>
                <a:gd name="T6" fmla="*/ 105 w 105"/>
                <a:gd name="T7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5" h="58">
                  <a:moveTo>
                    <a:pt x="0" y="0"/>
                  </a:moveTo>
                  <a:lnTo>
                    <a:pt x="38" y="0"/>
                  </a:lnTo>
                  <a:lnTo>
                    <a:pt x="76" y="58"/>
                  </a:lnTo>
                  <a:lnTo>
                    <a:pt x="105" y="58"/>
                  </a:lnTo>
                </a:path>
              </a:pathLst>
            </a:cu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Line 49"/>
            <p:cNvSpPr>
              <a:spLocks noChangeShapeType="1"/>
            </p:cNvSpPr>
            <p:nvPr/>
          </p:nvSpPr>
          <p:spPr bwMode="auto">
            <a:xfrm>
              <a:off x="13747750" y="2520950"/>
              <a:ext cx="227012" cy="0"/>
            </a:xfrm>
            <a:prstGeom prst="lin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Oval 50"/>
            <p:cNvSpPr>
              <a:spLocks noChangeArrowheads="1"/>
            </p:cNvSpPr>
            <p:nvPr/>
          </p:nvSpPr>
          <p:spPr bwMode="auto">
            <a:xfrm>
              <a:off x="13655675" y="2306638"/>
              <a:ext cx="92075" cy="92075"/>
            </a:xfrm>
            <a:prstGeom prst="ellips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Oval 51"/>
            <p:cNvSpPr>
              <a:spLocks noChangeArrowheads="1"/>
            </p:cNvSpPr>
            <p:nvPr/>
          </p:nvSpPr>
          <p:spPr bwMode="auto">
            <a:xfrm>
              <a:off x="13655675" y="2474913"/>
              <a:ext cx="92075" cy="92075"/>
            </a:xfrm>
            <a:prstGeom prst="ellips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52"/>
            <p:cNvSpPr>
              <a:spLocks/>
            </p:cNvSpPr>
            <p:nvPr/>
          </p:nvSpPr>
          <p:spPr bwMode="auto">
            <a:xfrm>
              <a:off x="13868400" y="2276475"/>
              <a:ext cx="138112" cy="90488"/>
            </a:xfrm>
            <a:custGeom>
              <a:avLst/>
              <a:gdLst>
                <a:gd name="T0" fmla="*/ 0 w 87"/>
                <a:gd name="T1" fmla="*/ 0 h 57"/>
                <a:gd name="T2" fmla="*/ 39 w 87"/>
                <a:gd name="T3" fmla="*/ 57 h 57"/>
                <a:gd name="T4" fmla="*/ 87 w 87"/>
                <a:gd name="T5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57">
                  <a:moveTo>
                    <a:pt x="0" y="0"/>
                  </a:moveTo>
                  <a:lnTo>
                    <a:pt x="39" y="57"/>
                  </a:lnTo>
                  <a:lnTo>
                    <a:pt x="87" y="57"/>
                  </a:lnTo>
                </a:path>
              </a:pathLst>
            </a:cu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Oval 53"/>
            <p:cNvSpPr>
              <a:spLocks noChangeArrowheads="1"/>
            </p:cNvSpPr>
            <p:nvPr/>
          </p:nvSpPr>
          <p:spPr bwMode="auto">
            <a:xfrm>
              <a:off x="13792200" y="2200275"/>
              <a:ext cx="92075" cy="90488"/>
            </a:xfrm>
            <a:prstGeom prst="ellips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54"/>
            <p:cNvSpPr>
              <a:spLocks noChangeArrowheads="1"/>
            </p:cNvSpPr>
            <p:nvPr/>
          </p:nvSpPr>
          <p:spPr bwMode="auto">
            <a:xfrm>
              <a:off x="13655675" y="2643188"/>
              <a:ext cx="92075" cy="92075"/>
            </a:xfrm>
            <a:prstGeom prst="ellips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55"/>
            <p:cNvSpPr>
              <a:spLocks/>
            </p:cNvSpPr>
            <p:nvPr/>
          </p:nvSpPr>
          <p:spPr bwMode="auto">
            <a:xfrm>
              <a:off x="13868400" y="2673350"/>
              <a:ext cx="138112" cy="92075"/>
            </a:xfrm>
            <a:custGeom>
              <a:avLst/>
              <a:gdLst>
                <a:gd name="T0" fmla="*/ 0 w 87"/>
                <a:gd name="T1" fmla="*/ 58 h 58"/>
                <a:gd name="T2" fmla="*/ 39 w 87"/>
                <a:gd name="T3" fmla="*/ 0 h 58"/>
                <a:gd name="T4" fmla="*/ 87 w 87"/>
                <a:gd name="T5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58">
                  <a:moveTo>
                    <a:pt x="0" y="58"/>
                  </a:moveTo>
                  <a:lnTo>
                    <a:pt x="39" y="0"/>
                  </a:lnTo>
                  <a:lnTo>
                    <a:pt x="87" y="0"/>
                  </a:lnTo>
                </a:path>
              </a:pathLst>
            </a:cu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56"/>
            <p:cNvSpPr>
              <a:spLocks noChangeArrowheads="1"/>
            </p:cNvSpPr>
            <p:nvPr/>
          </p:nvSpPr>
          <p:spPr bwMode="auto">
            <a:xfrm>
              <a:off x="13792200" y="2749550"/>
              <a:ext cx="92075" cy="92075"/>
            </a:xfrm>
            <a:prstGeom prst="ellips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Line 57"/>
            <p:cNvSpPr>
              <a:spLocks noChangeShapeType="1"/>
            </p:cNvSpPr>
            <p:nvPr/>
          </p:nvSpPr>
          <p:spPr bwMode="auto">
            <a:xfrm flipH="1">
              <a:off x="13974763" y="2520950"/>
              <a:ext cx="31750" cy="0"/>
            </a:xfrm>
            <a:prstGeom prst="lin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58"/>
            <p:cNvSpPr>
              <a:spLocks/>
            </p:cNvSpPr>
            <p:nvPr/>
          </p:nvSpPr>
          <p:spPr bwMode="auto">
            <a:xfrm>
              <a:off x="13747750" y="2398713"/>
              <a:ext cx="585787" cy="290513"/>
            </a:xfrm>
            <a:custGeom>
              <a:avLst/>
              <a:gdLst>
                <a:gd name="T0" fmla="*/ 0 w 369"/>
                <a:gd name="T1" fmla="*/ 183 h 183"/>
                <a:gd name="T2" fmla="*/ 38 w 369"/>
                <a:gd name="T3" fmla="*/ 183 h 183"/>
                <a:gd name="T4" fmla="*/ 76 w 369"/>
                <a:gd name="T5" fmla="*/ 125 h 183"/>
                <a:gd name="T6" fmla="*/ 258 w 369"/>
                <a:gd name="T7" fmla="*/ 125 h 183"/>
                <a:gd name="T8" fmla="*/ 258 w 369"/>
                <a:gd name="T9" fmla="*/ 154 h 183"/>
                <a:gd name="T10" fmla="*/ 369 w 369"/>
                <a:gd name="T11" fmla="*/ 77 h 183"/>
                <a:gd name="T12" fmla="*/ 258 w 369"/>
                <a:gd name="T13" fmla="*/ 0 h 183"/>
                <a:gd name="T14" fmla="*/ 258 w 369"/>
                <a:gd name="T15" fmla="*/ 29 h 183"/>
                <a:gd name="T16" fmla="*/ 163 w 369"/>
                <a:gd name="T17" fmla="*/ 2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9" h="183">
                  <a:moveTo>
                    <a:pt x="0" y="183"/>
                  </a:moveTo>
                  <a:lnTo>
                    <a:pt x="38" y="183"/>
                  </a:lnTo>
                  <a:lnTo>
                    <a:pt x="76" y="125"/>
                  </a:lnTo>
                  <a:lnTo>
                    <a:pt x="258" y="125"/>
                  </a:lnTo>
                  <a:lnTo>
                    <a:pt x="258" y="154"/>
                  </a:lnTo>
                  <a:lnTo>
                    <a:pt x="369" y="77"/>
                  </a:lnTo>
                  <a:lnTo>
                    <a:pt x="258" y="0"/>
                  </a:lnTo>
                  <a:lnTo>
                    <a:pt x="258" y="29"/>
                  </a:lnTo>
                  <a:lnTo>
                    <a:pt x="163" y="29"/>
                  </a:lnTo>
                </a:path>
              </a:pathLst>
            </a:cu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Line 59"/>
            <p:cNvSpPr>
              <a:spLocks noChangeShapeType="1"/>
            </p:cNvSpPr>
            <p:nvPr/>
          </p:nvSpPr>
          <p:spPr bwMode="auto">
            <a:xfrm>
              <a:off x="14097000" y="2520950"/>
              <a:ext cx="30162" cy="0"/>
            </a:xfrm>
            <a:prstGeom prst="lin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Line 60"/>
            <p:cNvSpPr>
              <a:spLocks noChangeShapeType="1"/>
            </p:cNvSpPr>
            <p:nvPr/>
          </p:nvSpPr>
          <p:spPr bwMode="auto">
            <a:xfrm>
              <a:off x="14036675" y="2520950"/>
              <a:ext cx="30162" cy="0"/>
            </a:xfrm>
            <a:prstGeom prst="lin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Line 61"/>
            <p:cNvSpPr>
              <a:spLocks noChangeShapeType="1"/>
            </p:cNvSpPr>
            <p:nvPr/>
          </p:nvSpPr>
          <p:spPr bwMode="auto">
            <a:xfrm>
              <a:off x="14036675" y="2366963"/>
              <a:ext cx="30162" cy="0"/>
            </a:xfrm>
            <a:prstGeom prst="lin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Line 62"/>
            <p:cNvSpPr>
              <a:spLocks noChangeShapeType="1"/>
            </p:cNvSpPr>
            <p:nvPr/>
          </p:nvSpPr>
          <p:spPr bwMode="auto">
            <a:xfrm>
              <a:off x="14036675" y="2673350"/>
              <a:ext cx="30162" cy="0"/>
            </a:xfrm>
            <a:prstGeom prst="lin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Line 63"/>
            <p:cNvSpPr>
              <a:spLocks noChangeShapeType="1"/>
            </p:cNvSpPr>
            <p:nvPr/>
          </p:nvSpPr>
          <p:spPr bwMode="auto">
            <a:xfrm flipH="1">
              <a:off x="13944600" y="2444750"/>
              <a:ext cx="30162" cy="0"/>
            </a:xfrm>
            <a:prstGeom prst="line">
              <a:avLst/>
            </a:prstGeom>
            <a:noFill/>
            <a:ln w="30163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4" name="Group 174"/>
          <p:cNvGrpSpPr>
            <a:grpSpLocks noChangeAspect="1"/>
          </p:cNvGrpSpPr>
          <p:nvPr/>
        </p:nvGrpSpPr>
        <p:grpSpPr bwMode="auto">
          <a:xfrm>
            <a:off x="7505149" y="4504489"/>
            <a:ext cx="657083" cy="622444"/>
            <a:chOff x="423" y="1294"/>
            <a:chExt cx="626" cy="593"/>
          </a:xfrm>
        </p:grpSpPr>
        <p:sp>
          <p:nvSpPr>
            <p:cNvPr id="105" name="Freeform 175"/>
            <p:cNvSpPr>
              <a:spLocks noEditPoints="1"/>
            </p:cNvSpPr>
            <p:nvPr/>
          </p:nvSpPr>
          <p:spPr bwMode="auto">
            <a:xfrm>
              <a:off x="470" y="1294"/>
              <a:ext cx="579" cy="593"/>
            </a:xfrm>
            <a:custGeom>
              <a:avLst/>
              <a:gdLst>
                <a:gd name="T0" fmla="*/ 611 w 687"/>
                <a:gd name="T1" fmla="*/ 96 h 704"/>
                <a:gd name="T2" fmla="*/ 238 w 687"/>
                <a:gd name="T3" fmla="*/ 76 h 704"/>
                <a:gd name="T4" fmla="*/ 0 w 687"/>
                <a:gd name="T5" fmla="*/ 201 h 704"/>
                <a:gd name="T6" fmla="*/ 64 w 687"/>
                <a:gd name="T7" fmla="*/ 205 h 704"/>
                <a:gd name="T8" fmla="*/ 181 w 687"/>
                <a:gd name="T9" fmla="*/ 162 h 704"/>
                <a:gd name="T10" fmla="*/ 36 w 687"/>
                <a:gd name="T11" fmla="*/ 263 h 704"/>
                <a:gd name="T12" fmla="*/ 222 w 687"/>
                <a:gd name="T13" fmla="*/ 363 h 704"/>
                <a:gd name="T14" fmla="*/ 198 w 687"/>
                <a:gd name="T15" fmla="*/ 439 h 704"/>
                <a:gd name="T16" fmla="*/ 7 w 687"/>
                <a:gd name="T17" fmla="*/ 318 h 704"/>
                <a:gd name="T18" fmla="*/ 60 w 687"/>
                <a:gd name="T19" fmla="*/ 330 h 704"/>
                <a:gd name="T20" fmla="*/ 73 w 687"/>
                <a:gd name="T21" fmla="*/ 331 h 704"/>
                <a:gd name="T22" fmla="*/ 260 w 687"/>
                <a:gd name="T23" fmla="*/ 639 h 704"/>
                <a:gd name="T24" fmla="*/ 256 w 687"/>
                <a:gd name="T25" fmla="*/ 704 h 704"/>
                <a:gd name="T26" fmla="*/ 486 w 687"/>
                <a:gd name="T27" fmla="*/ 642 h 704"/>
                <a:gd name="T28" fmla="*/ 542 w 687"/>
                <a:gd name="T29" fmla="*/ 524 h 704"/>
                <a:gd name="T30" fmla="*/ 627 w 687"/>
                <a:gd name="T31" fmla="*/ 413 h 704"/>
                <a:gd name="T32" fmla="*/ 672 w 687"/>
                <a:gd name="T33" fmla="*/ 350 h 704"/>
                <a:gd name="T34" fmla="*/ 174 w 687"/>
                <a:gd name="T35" fmla="*/ 197 h 704"/>
                <a:gd name="T36" fmla="*/ 106 w 687"/>
                <a:gd name="T37" fmla="*/ 257 h 704"/>
                <a:gd name="T38" fmla="*/ 184 w 687"/>
                <a:gd name="T39" fmla="*/ 269 h 704"/>
                <a:gd name="T40" fmla="*/ 185 w 687"/>
                <a:gd name="T41" fmla="*/ 351 h 704"/>
                <a:gd name="T42" fmla="*/ 256 w 687"/>
                <a:gd name="T43" fmla="*/ 692 h 704"/>
                <a:gd name="T44" fmla="*/ 640 w 687"/>
                <a:gd name="T45" fmla="*/ 338 h 704"/>
                <a:gd name="T46" fmla="*/ 631 w 687"/>
                <a:gd name="T47" fmla="*/ 398 h 704"/>
                <a:gd name="T48" fmla="*/ 626 w 687"/>
                <a:gd name="T49" fmla="*/ 506 h 704"/>
                <a:gd name="T50" fmla="*/ 474 w 687"/>
                <a:gd name="T51" fmla="*/ 635 h 704"/>
                <a:gd name="T52" fmla="*/ 263 w 687"/>
                <a:gd name="T53" fmla="*/ 456 h 704"/>
                <a:gd name="T54" fmla="*/ 365 w 687"/>
                <a:gd name="T55" fmla="*/ 535 h 704"/>
                <a:gd name="T56" fmla="*/ 394 w 687"/>
                <a:gd name="T57" fmla="*/ 517 h 704"/>
                <a:gd name="T58" fmla="*/ 420 w 687"/>
                <a:gd name="T59" fmla="*/ 450 h 704"/>
                <a:gd name="T60" fmla="*/ 452 w 687"/>
                <a:gd name="T61" fmla="*/ 413 h 704"/>
                <a:gd name="T62" fmla="*/ 299 w 687"/>
                <a:gd name="T63" fmla="*/ 439 h 704"/>
                <a:gd name="T64" fmla="*/ 235 w 687"/>
                <a:gd name="T65" fmla="*/ 363 h 704"/>
                <a:gd name="T66" fmla="*/ 543 w 687"/>
                <a:gd name="T67" fmla="*/ 358 h 704"/>
                <a:gd name="T68" fmla="*/ 321 w 687"/>
                <a:gd name="T69" fmla="*/ 351 h 704"/>
                <a:gd name="T70" fmla="*/ 474 w 687"/>
                <a:gd name="T71" fmla="*/ 289 h 704"/>
                <a:gd name="T72" fmla="*/ 442 w 687"/>
                <a:gd name="T73" fmla="*/ 251 h 704"/>
                <a:gd name="T74" fmla="*/ 229 w 687"/>
                <a:gd name="T75" fmla="*/ 348 h 704"/>
                <a:gd name="T76" fmla="*/ 266 w 687"/>
                <a:gd name="T77" fmla="*/ 272 h 704"/>
                <a:gd name="T78" fmla="*/ 265 w 687"/>
                <a:gd name="T79" fmla="*/ 254 h 704"/>
                <a:gd name="T80" fmla="*/ 186 w 687"/>
                <a:gd name="T81" fmla="*/ 209 h 704"/>
                <a:gd name="T82" fmla="*/ 321 w 687"/>
                <a:gd name="T83" fmla="*/ 179 h 704"/>
                <a:gd name="T84" fmla="*/ 321 w 687"/>
                <a:gd name="T85" fmla="*/ 161 h 704"/>
                <a:gd name="T86" fmla="*/ 241 w 687"/>
                <a:gd name="T87" fmla="*/ 89 h 704"/>
                <a:gd name="T88" fmla="*/ 430 w 687"/>
                <a:gd name="T89" fmla="*/ 134 h 704"/>
                <a:gd name="T90" fmla="*/ 457 w 687"/>
                <a:gd name="T91" fmla="*/ 120 h 704"/>
                <a:gd name="T92" fmla="*/ 255 w 687"/>
                <a:gd name="T93" fmla="*/ 76 h 704"/>
                <a:gd name="T94" fmla="*/ 601 w 687"/>
                <a:gd name="T95" fmla="*/ 102 h 704"/>
                <a:gd name="T96" fmla="*/ 640 w 687"/>
                <a:gd name="T97" fmla="*/ 338 h 704"/>
                <a:gd name="T98" fmla="*/ 394 w 687"/>
                <a:gd name="T99" fmla="*/ 569 h 704"/>
                <a:gd name="T100" fmla="*/ 472 w 687"/>
                <a:gd name="T101" fmla="*/ 445 h 704"/>
                <a:gd name="T102" fmla="*/ 511 w 687"/>
                <a:gd name="T103" fmla="*/ 338 h 704"/>
                <a:gd name="T104" fmla="*/ 454 w 687"/>
                <a:gd name="T105" fmla="*/ 256 h 704"/>
                <a:gd name="T106" fmla="*/ 494 w 687"/>
                <a:gd name="T107" fmla="*/ 256 h 704"/>
                <a:gd name="T108" fmla="*/ 454 w 687"/>
                <a:gd name="T109" fmla="*/ 258 h 704"/>
                <a:gd name="T110" fmla="*/ 297 w 687"/>
                <a:gd name="T111" fmla="*/ 241 h 704"/>
                <a:gd name="T112" fmla="*/ 332 w 687"/>
                <a:gd name="T113" fmla="*/ 170 h 704"/>
                <a:gd name="T114" fmla="*/ 332 w 687"/>
                <a:gd name="T115" fmla="*/ 170 h 704"/>
                <a:gd name="T116" fmla="*/ 457 w 687"/>
                <a:gd name="T117" fmla="*/ 173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87" h="704">
                  <a:moveTo>
                    <a:pt x="682" y="327"/>
                  </a:moveTo>
                  <a:cubicBezTo>
                    <a:pt x="633" y="269"/>
                    <a:pt x="633" y="269"/>
                    <a:pt x="633" y="269"/>
                  </a:cubicBezTo>
                  <a:cubicBezTo>
                    <a:pt x="624" y="259"/>
                    <a:pt x="621" y="253"/>
                    <a:pt x="623" y="249"/>
                  </a:cubicBezTo>
                  <a:cubicBezTo>
                    <a:pt x="646" y="201"/>
                    <a:pt x="642" y="146"/>
                    <a:pt x="611" y="96"/>
                  </a:cubicBezTo>
                  <a:cubicBezTo>
                    <a:pt x="574" y="37"/>
                    <a:pt x="508" y="0"/>
                    <a:pt x="437" y="0"/>
                  </a:cubicBezTo>
                  <a:cubicBezTo>
                    <a:pt x="436" y="0"/>
                    <a:pt x="436" y="0"/>
                    <a:pt x="436" y="0"/>
                  </a:cubicBezTo>
                  <a:cubicBezTo>
                    <a:pt x="363" y="1"/>
                    <a:pt x="289" y="29"/>
                    <a:pt x="239" y="74"/>
                  </a:cubicBezTo>
                  <a:cubicBezTo>
                    <a:pt x="238" y="76"/>
                    <a:pt x="238" y="76"/>
                    <a:pt x="238" y="76"/>
                  </a:cubicBezTo>
                  <a:cubicBezTo>
                    <a:pt x="177" y="76"/>
                    <a:pt x="177" y="76"/>
                    <a:pt x="177" y="76"/>
                  </a:cubicBezTo>
                  <a:cubicBezTo>
                    <a:pt x="57" y="195"/>
                    <a:pt x="57" y="195"/>
                    <a:pt x="57" y="195"/>
                  </a:cubicBezTo>
                  <a:cubicBezTo>
                    <a:pt x="6" y="195"/>
                    <a:pt x="6" y="195"/>
                    <a:pt x="6" y="195"/>
                  </a:cubicBezTo>
                  <a:cubicBezTo>
                    <a:pt x="2" y="195"/>
                    <a:pt x="0" y="197"/>
                    <a:pt x="0" y="201"/>
                  </a:cubicBezTo>
                  <a:cubicBezTo>
                    <a:pt x="0" y="204"/>
                    <a:pt x="2" y="207"/>
                    <a:pt x="6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60" y="207"/>
                  </a:cubicBezTo>
                  <a:cubicBezTo>
                    <a:pt x="61" y="207"/>
                    <a:pt x="63" y="206"/>
                    <a:pt x="64" y="205"/>
                  </a:cubicBezTo>
                  <a:cubicBezTo>
                    <a:pt x="182" y="88"/>
                    <a:pt x="182" y="88"/>
                    <a:pt x="182" y="88"/>
                  </a:cubicBezTo>
                  <a:cubicBezTo>
                    <a:pt x="225" y="88"/>
                    <a:pt x="225" y="88"/>
                    <a:pt x="225" y="88"/>
                  </a:cubicBezTo>
                  <a:cubicBezTo>
                    <a:pt x="219" y="94"/>
                    <a:pt x="219" y="94"/>
                    <a:pt x="219" y="94"/>
                  </a:cubicBezTo>
                  <a:cubicBezTo>
                    <a:pt x="202" y="115"/>
                    <a:pt x="189" y="138"/>
                    <a:pt x="181" y="162"/>
                  </a:cubicBezTo>
                  <a:cubicBezTo>
                    <a:pt x="181" y="163"/>
                    <a:pt x="181" y="163"/>
                    <a:pt x="181" y="163"/>
                  </a:cubicBezTo>
                  <a:cubicBezTo>
                    <a:pt x="90" y="257"/>
                    <a:pt x="90" y="257"/>
                    <a:pt x="90" y="257"/>
                  </a:cubicBezTo>
                  <a:cubicBezTo>
                    <a:pt x="42" y="257"/>
                    <a:pt x="42" y="257"/>
                    <a:pt x="42" y="257"/>
                  </a:cubicBezTo>
                  <a:cubicBezTo>
                    <a:pt x="39" y="257"/>
                    <a:pt x="36" y="260"/>
                    <a:pt x="36" y="263"/>
                  </a:cubicBezTo>
                  <a:cubicBezTo>
                    <a:pt x="36" y="267"/>
                    <a:pt x="39" y="269"/>
                    <a:pt x="42" y="269"/>
                  </a:cubicBezTo>
                  <a:cubicBezTo>
                    <a:pt x="88" y="269"/>
                    <a:pt x="88" y="269"/>
                    <a:pt x="88" y="269"/>
                  </a:cubicBezTo>
                  <a:cubicBezTo>
                    <a:pt x="180" y="363"/>
                    <a:pt x="180" y="363"/>
                    <a:pt x="180" y="363"/>
                  </a:cubicBezTo>
                  <a:cubicBezTo>
                    <a:pt x="222" y="363"/>
                    <a:pt x="222" y="363"/>
                    <a:pt x="222" y="363"/>
                  </a:cubicBezTo>
                  <a:cubicBezTo>
                    <a:pt x="223" y="365"/>
                    <a:pt x="223" y="365"/>
                    <a:pt x="223" y="365"/>
                  </a:cubicBezTo>
                  <a:cubicBezTo>
                    <a:pt x="232" y="388"/>
                    <a:pt x="239" y="412"/>
                    <a:pt x="245" y="434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198" y="439"/>
                    <a:pt x="198" y="439"/>
                    <a:pt x="198" y="439"/>
                  </a:cubicBezTo>
                  <a:cubicBezTo>
                    <a:pt x="76" y="318"/>
                    <a:pt x="76" y="318"/>
                    <a:pt x="76" y="318"/>
                  </a:cubicBezTo>
                  <a:cubicBezTo>
                    <a:pt x="10" y="318"/>
                    <a:pt x="10" y="318"/>
                    <a:pt x="10" y="318"/>
                  </a:cubicBezTo>
                  <a:cubicBezTo>
                    <a:pt x="9" y="318"/>
                    <a:pt x="9" y="318"/>
                    <a:pt x="8" y="318"/>
                  </a:cubicBezTo>
                  <a:cubicBezTo>
                    <a:pt x="7" y="318"/>
                    <a:pt x="7" y="318"/>
                    <a:pt x="7" y="318"/>
                  </a:cubicBezTo>
                  <a:cubicBezTo>
                    <a:pt x="6" y="318"/>
                    <a:pt x="6" y="318"/>
                    <a:pt x="6" y="318"/>
                  </a:cubicBezTo>
                  <a:cubicBezTo>
                    <a:pt x="2" y="318"/>
                    <a:pt x="0" y="321"/>
                    <a:pt x="0" y="324"/>
                  </a:cubicBezTo>
                  <a:cubicBezTo>
                    <a:pt x="0" y="328"/>
                    <a:pt x="2" y="330"/>
                    <a:pt x="6" y="330"/>
                  </a:cubicBezTo>
                  <a:cubicBezTo>
                    <a:pt x="60" y="330"/>
                    <a:pt x="60" y="330"/>
                    <a:pt x="60" y="330"/>
                  </a:cubicBezTo>
                  <a:cubicBezTo>
                    <a:pt x="60" y="330"/>
                    <a:pt x="61" y="330"/>
                    <a:pt x="61" y="330"/>
                  </a:cubicBezTo>
                  <a:cubicBezTo>
                    <a:pt x="62" y="330"/>
                    <a:pt x="62" y="330"/>
                    <a:pt x="62" y="330"/>
                  </a:cubicBezTo>
                  <a:cubicBezTo>
                    <a:pt x="71" y="330"/>
                    <a:pt x="71" y="330"/>
                    <a:pt x="71" y="330"/>
                  </a:cubicBezTo>
                  <a:cubicBezTo>
                    <a:pt x="73" y="331"/>
                    <a:pt x="73" y="331"/>
                    <a:pt x="73" y="331"/>
                  </a:cubicBezTo>
                  <a:cubicBezTo>
                    <a:pt x="193" y="451"/>
                    <a:pt x="193" y="451"/>
                    <a:pt x="193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1" y="454"/>
                    <a:pt x="251" y="454"/>
                    <a:pt x="251" y="454"/>
                  </a:cubicBezTo>
                  <a:cubicBezTo>
                    <a:pt x="267" y="522"/>
                    <a:pt x="270" y="584"/>
                    <a:pt x="260" y="639"/>
                  </a:cubicBezTo>
                  <a:cubicBezTo>
                    <a:pt x="260" y="642"/>
                    <a:pt x="260" y="642"/>
                    <a:pt x="260" y="642"/>
                  </a:cubicBezTo>
                  <a:cubicBezTo>
                    <a:pt x="256" y="642"/>
                    <a:pt x="256" y="642"/>
                    <a:pt x="256" y="642"/>
                  </a:cubicBezTo>
                  <a:cubicBezTo>
                    <a:pt x="239" y="642"/>
                    <a:pt x="226" y="656"/>
                    <a:pt x="226" y="673"/>
                  </a:cubicBezTo>
                  <a:cubicBezTo>
                    <a:pt x="226" y="690"/>
                    <a:pt x="239" y="704"/>
                    <a:pt x="256" y="704"/>
                  </a:cubicBezTo>
                  <a:cubicBezTo>
                    <a:pt x="504" y="704"/>
                    <a:pt x="504" y="704"/>
                    <a:pt x="504" y="704"/>
                  </a:cubicBezTo>
                  <a:cubicBezTo>
                    <a:pt x="521" y="704"/>
                    <a:pt x="535" y="690"/>
                    <a:pt x="535" y="673"/>
                  </a:cubicBezTo>
                  <a:cubicBezTo>
                    <a:pt x="535" y="656"/>
                    <a:pt x="521" y="642"/>
                    <a:pt x="504" y="642"/>
                  </a:cubicBezTo>
                  <a:cubicBezTo>
                    <a:pt x="486" y="642"/>
                    <a:pt x="486" y="642"/>
                    <a:pt x="486" y="642"/>
                  </a:cubicBezTo>
                  <a:cubicBezTo>
                    <a:pt x="486" y="638"/>
                    <a:pt x="486" y="638"/>
                    <a:pt x="486" y="638"/>
                  </a:cubicBezTo>
                  <a:cubicBezTo>
                    <a:pt x="486" y="625"/>
                    <a:pt x="485" y="612"/>
                    <a:pt x="484" y="600"/>
                  </a:cubicBezTo>
                  <a:cubicBezTo>
                    <a:pt x="481" y="572"/>
                    <a:pt x="479" y="545"/>
                    <a:pt x="493" y="532"/>
                  </a:cubicBezTo>
                  <a:cubicBezTo>
                    <a:pt x="502" y="523"/>
                    <a:pt x="518" y="521"/>
                    <a:pt x="542" y="524"/>
                  </a:cubicBezTo>
                  <a:cubicBezTo>
                    <a:pt x="595" y="532"/>
                    <a:pt x="625" y="529"/>
                    <a:pt x="636" y="513"/>
                  </a:cubicBezTo>
                  <a:cubicBezTo>
                    <a:pt x="644" y="501"/>
                    <a:pt x="642" y="484"/>
                    <a:pt x="630" y="461"/>
                  </a:cubicBezTo>
                  <a:cubicBezTo>
                    <a:pt x="615" y="435"/>
                    <a:pt x="614" y="424"/>
                    <a:pt x="616" y="420"/>
                  </a:cubicBezTo>
                  <a:cubicBezTo>
                    <a:pt x="617" y="416"/>
                    <a:pt x="622" y="415"/>
                    <a:pt x="627" y="413"/>
                  </a:cubicBezTo>
                  <a:cubicBezTo>
                    <a:pt x="632" y="412"/>
                    <a:pt x="638" y="410"/>
                    <a:pt x="641" y="405"/>
                  </a:cubicBezTo>
                  <a:cubicBezTo>
                    <a:pt x="649" y="393"/>
                    <a:pt x="645" y="374"/>
                    <a:pt x="640" y="355"/>
                  </a:cubicBezTo>
                  <a:cubicBezTo>
                    <a:pt x="638" y="350"/>
                    <a:pt x="638" y="350"/>
                    <a:pt x="638" y="350"/>
                  </a:cubicBezTo>
                  <a:cubicBezTo>
                    <a:pt x="672" y="350"/>
                    <a:pt x="672" y="350"/>
                    <a:pt x="672" y="350"/>
                  </a:cubicBezTo>
                  <a:cubicBezTo>
                    <a:pt x="677" y="350"/>
                    <a:pt x="682" y="347"/>
                    <a:pt x="685" y="342"/>
                  </a:cubicBezTo>
                  <a:cubicBezTo>
                    <a:pt x="687" y="337"/>
                    <a:pt x="686" y="331"/>
                    <a:pt x="682" y="327"/>
                  </a:cubicBezTo>
                  <a:close/>
                  <a:moveTo>
                    <a:pt x="175" y="186"/>
                  </a:moveTo>
                  <a:cubicBezTo>
                    <a:pt x="174" y="197"/>
                    <a:pt x="174" y="197"/>
                    <a:pt x="174" y="197"/>
                  </a:cubicBezTo>
                  <a:cubicBezTo>
                    <a:pt x="174" y="201"/>
                    <a:pt x="174" y="205"/>
                    <a:pt x="174" y="209"/>
                  </a:cubicBezTo>
                  <a:cubicBezTo>
                    <a:pt x="173" y="220"/>
                    <a:pt x="175" y="235"/>
                    <a:pt x="180" y="253"/>
                  </a:cubicBezTo>
                  <a:cubicBezTo>
                    <a:pt x="181" y="257"/>
                    <a:pt x="181" y="257"/>
                    <a:pt x="181" y="257"/>
                  </a:cubicBezTo>
                  <a:cubicBezTo>
                    <a:pt x="106" y="257"/>
                    <a:pt x="106" y="257"/>
                    <a:pt x="106" y="257"/>
                  </a:cubicBezTo>
                  <a:lnTo>
                    <a:pt x="175" y="186"/>
                  </a:lnTo>
                  <a:close/>
                  <a:moveTo>
                    <a:pt x="185" y="351"/>
                  </a:moveTo>
                  <a:cubicBezTo>
                    <a:pt x="105" y="269"/>
                    <a:pt x="105" y="269"/>
                    <a:pt x="105" y="269"/>
                  </a:cubicBezTo>
                  <a:cubicBezTo>
                    <a:pt x="184" y="269"/>
                    <a:pt x="184" y="269"/>
                    <a:pt x="184" y="269"/>
                  </a:cubicBezTo>
                  <a:cubicBezTo>
                    <a:pt x="185" y="272"/>
                    <a:pt x="185" y="272"/>
                    <a:pt x="185" y="272"/>
                  </a:cubicBezTo>
                  <a:cubicBezTo>
                    <a:pt x="192" y="296"/>
                    <a:pt x="203" y="323"/>
                    <a:pt x="213" y="345"/>
                  </a:cubicBezTo>
                  <a:cubicBezTo>
                    <a:pt x="216" y="351"/>
                    <a:pt x="216" y="351"/>
                    <a:pt x="216" y="351"/>
                  </a:cubicBezTo>
                  <a:lnTo>
                    <a:pt x="185" y="351"/>
                  </a:lnTo>
                  <a:close/>
                  <a:moveTo>
                    <a:pt x="504" y="654"/>
                  </a:moveTo>
                  <a:cubicBezTo>
                    <a:pt x="515" y="654"/>
                    <a:pt x="523" y="663"/>
                    <a:pt x="523" y="673"/>
                  </a:cubicBezTo>
                  <a:cubicBezTo>
                    <a:pt x="523" y="683"/>
                    <a:pt x="515" y="692"/>
                    <a:pt x="504" y="692"/>
                  </a:cubicBezTo>
                  <a:cubicBezTo>
                    <a:pt x="256" y="692"/>
                    <a:pt x="256" y="692"/>
                    <a:pt x="256" y="692"/>
                  </a:cubicBezTo>
                  <a:cubicBezTo>
                    <a:pt x="246" y="692"/>
                    <a:pt x="238" y="683"/>
                    <a:pt x="238" y="673"/>
                  </a:cubicBezTo>
                  <a:cubicBezTo>
                    <a:pt x="238" y="663"/>
                    <a:pt x="246" y="654"/>
                    <a:pt x="256" y="654"/>
                  </a:cubicBezTo>
                  <a:lnTo>
                    <a:pt x="504" y="654"/>
                  </a:lnTo>
                  <a:close/>
                  <a:moveTo>
                    <a:pt x="640" y="338"/>
                  </a:moveTo>
                  <a:cubicBezTo>
                    <a:pt x="636" y="338"/>
                    <a:pt x="632" y="340"/>
                    <a:pt x="629" y="343"/>
                  </a:cubicBezTo>
                  <a:cubicBezTo>
                    <a:pt x="627" y="347"/>
                    <a:pt x="626" y="351"/>
                    <a:pt x="627" y="355"/>
                  </a:cubicBezTo>
                  <a:cubicBezTo>
                    <a:pt x="632" y="373"/>
                    <a:pt x="636" y="390"/>
                    <a:pt x="631" y="398"/>
                  </a:cubicBezTo>
                  <a:cubicBezTo>
                    <a:pt x="631" y="398"/>
                    <a:pt x="631" y="398"/>
                    <a:pt x="631" y="398"/>
                  </a:cubicBezTo>
                  <a:cubicBezTo>
                    <a:pt x="629" y="400"/>
                    <a:pt x="627" y="400"/>
                    <a:pt x="623" y="402"/>
                  </a:cubicBezTo>
                  <a:cubicBezTo>
                    <a:pt x="617" y="404"/>
                    <a:pt x="608" y="406"/>
                    <a:pt x="605" y="415"/>
                  </a:cubicBezTo>
                  <a:cubicBezTo>
                    <a:pt x="601" y="426"/>
                    <a:pt x="605" y="442"/>
                    <a:pt x="619" y="467"/>
                  </a:cubicBezTo>
                  <a:cubicBezTo>
                    <a:pt x="629" y="485"/>
                    <a:pt x="631" y="498"/>
                    <a:pt x="626" y="506"/>
                  </a:cubicBezTo>
                  <a:cubicBezTo>
                    <a:pt x="618" y="517"/>
                    <a:pt x="590" y="520"/>
                    <a:pt x="544" y="513"/>
                  </a:cubicBezTo>
                  <a:cubicBezTo>
                    <a:pt x="516" y="508"/>
                    <a:pt x="496" y="512"/>
                    <a:pt x="484" y="523"/>
                  </a:cubicBezTo>
                  <a:cubicBezTo>
                    <a:pt x="466" y="540"/>
                    <a:pt x="469" y="571"/>
                    <a:pt x="472" y="601"/>
                  </a:cubicBezTo>
                  <a:cubicBezTo>
                    <a:pt x="473" y="612"/>
                    <a:pt x="474" y="624"/>
                    <a:pt x="474" y="635"/>
                  </a:cubicBezTo>
                  <a:cubicBezTo>
                    <a:pt x="474" y="639"/>
                    <a:pt x="474" y="639"/>
                    <a:pt x="474" y="639"/>
                  </a:cubicBezTo>
                  <a:cubicBezTo>
                    <a:pt x="273" y="639"/>
                    <a:pt x="273" y="639"/>
                    <a:pt x="273" y="639"/>
                  </a:cubicBezTo>
                  <a:cubicBezTo>
                    <a:pt x="273" y="635"/>
                    <a:pt x="273" y="635"/>
                    <a:pt x="273" y="635"/>
                  </a:cubicBezTo>
                  <a:cubicBezTo>
                    <a:pt x="282" y="581"/>
                    <a:pt x="278" y="521"/>
                    <a:pt x="263" y="456"/>
                  </a:cubicBezTo>
                  <a:cubicBezTo>
                    <a:pt x="262" y="451"/>
                    <a:pt x="262" y="451"/>
                    <a:pt x="262" y="451"/>
                  </a:cubicBezTo>
                  <a:cubicBezTo>
                    <a:pt x="292" y="451"/>
                    <a:pt x="292" y="451"/>
                    <a:pt x="292" y="451"/>
                  </a:cubicBezTo>
                  <a:cubicBezTo>
                    <a:pt x="366" y="533"/>
                    <a:pt x="366" y="533"/>
                    <a:pt x="366" y="533"/>
                  </a:cubicBezTo>
                  <a:cubicBezTo>
                    <a:pt x="365" y="535"/>
                    <a:pt x="365" y="535"/>
                    <a:pt x="365" y="535"/>
                  </a:cubicBezTo>
                  <a:cubicBezTo>
                    <a:pt x="363" y="540"/>
                    <a:pt x="362" y="544"/>
                    <a:pt x="362" y="549"/>
                  </a:cubicBezTo>
                  <a:cubicBezTo>
                    <a:pt x="362" y="567"/>
                    <a:pt x="376" y="581"/>
                    <a:pt x="394" y="581"/>
                  </a:cubicBezTo>
                  <a:cubicBezTo>
                    <a:pt x="412" y="581"/>
                    <a:pt x="426" y="567"/>
                    <a:pt x="426" y="549"/>
                  </a:cubicBezTo>
                  <a:cubicBezTo>
                    <a:pt x="426" y="531"/>
                    <a:pt x="412" y="517"/>
                    <a:pt x="394" y="517"/>
                  </a:cubicBezTo>
                  <a:cubicBezTo>
                    <a:pt x="388" y="517"/>
                    <a:pt x="382" y="519"/>
                    <a:pt x="377" y="522"/>
                  </a:cubicBezTo>
                  <a:cubicBezTo>
                    <a:pt x="374" y="524"/>
                    <a:pt x="374" y="524"/>
                    <a:pt x="374" y="524"/>
                  </a:cubicBezTo>
                  <a:cubicBezTo>
                    <a:pt x="308" y="451"/>
                    <a:pt x="308" y="451"/>
                    <a:pt x="308" y="451"/>
                  </a:cubicBezTo>
                  <a:cubicBezTo>
                    <a:pt x="420" y="450"/>
                    <a:pt x="420" y="450"/>
                    <a:pt x="420" y="450"/>
                  </a:cubicBezTo>
                  <a:cubicBezTo>
                    <a:pt x="421" y="453"/>
                    <a:pt x="421" y="453"/>
                    <a:pt x="421" y="453"/>
                  </a:cubicBezTo>
                  <a:cubicBezTo>
                    <a:pt x="424" y="468"/>
                    <a:pt x="437" y="478"/>
                    <a:pt x="452" y="478"/>
                  </a:cubicBezTo>
                  <a:cubicBezTo>
                    <a:pt x="470" y="478"/>
                    <a:pt x="484" y="463"/>
                    <a:pt x="484" y="445"/>
                  </a:cubicBezTo>
                  <a:cubicBezTo>
                    <a:pt x="484" y="427"/>
                    <a:pt x="470" y="413"/>
                    <a:pt x="452" y="413"/>
                  </a:cubicBezTo>
                  <a:cubicBezTo>
                    <a:pt x="438" y="413"/>
                    <a:pt x="425" y="422"/>
                    <a:pt x="421" y="436"/>
                  </a:cubicBezTo>
                  <a:cubicBezTo>
                    <a:pt x="420" y="438"/>
                    <a:pt x="420" y="438"/>
                    <a:pt x="420" y="438"/>
                  </a:cubicBezTo>
                  <a:cubicBezTo>
                    <a:pt x="417" y="438"/>
                    <a:pt x="417" y="438"/>
                    <a:pt x="417" y="438"/>
                  </a:cubicBezTo>
                  <a:cubicBezTo>
                    <a:pt x="299" y="439"/>
                    <a:pt x="299" y="439"/>
                    <a:pt x="29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8" y="436"/>
                    <a:pt x="258" y="436"/>
                    <a:pt x="258" y="436"/>
                  </a:cubicBezTo>
                  <a:cubicBezTo>
                    <a:pt x="252" y="414"/>
                    <a:pt x="245" y="391"/>
                    <a:pt x="237" y="368"/>
                  </a:cubicBezTo>
                  <a:cubicBezTo>
                    <a:pt x="235" y="363"/>
                    <a:pt x="235" y="363"/>
                    <a:pt x="235" y="363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79" y="366"/>
                    <a:pt x="479" y="366"/>
                    <a:pt x="479" y="366"/>
                  </a:cubicBezTo>
                  <a:cubicBezTo>
                    <a:pt x="483" y="380"/>
                    <a:pt x="496" y="390"/>
                    <a:pt x="511" y="390"/>
                  </a:cubicBezTo>
                  <a:cubicBezTo>
                    <a:pt x="528" y="390"/>
                    <a:pt x="543" y="376"/>
                    <a:pt x="543" y="358"/>
                  </a:cubicBezTo>
                  <a:cubicBezTo>
                    <a:pt x="543" y="340"/>
                    <a:pt x="528" y="326"/>
                    <a:pt x="511" y="326"/>
                  </a:cubicBezTo>
                  <a:cubicBezTo>
                    <a:pt x="497" y="326"/>
                    <a:pt x="484" y="335"/>
                    <a:pt x="480" y="348"/>
                  </a:cubicBezTo>
                  <a:cubicBezTo>
                    <a:pt x="479" y="351"/>
                    <a:pt x="479" y="351"/>
                    <a:pt x="479" y="351"/>
                  </a:cubicBezTo>
                  <a:cubicBezTo>
                    <a:pt x="321" y="351"/>
                    <a:pt x="321" y="351"/>
                    <a:pt x="321" y="351"/>
                  </a:cubicBezTo>
                  <a:cubicBezTo>
                    <a:pt x="406" y="263"/>
                    <a:pt x="406" y="263"/>
                    <a:pt x="406" y="263"/>
                  </a:cubicBezTo>
                  <a:cubicBezTo>
                    <a:pt x="442" y="263"/>
                    <a:pt x="442" y="263"/>
                    <a:pt x="442" y="263"/>
                  </a:cubicBezTo>
                  <a:cubicBezTo>
                    <a:pt x="443" y="266"/>
                    <a:pt x="443" y="266"/>
                    <a:pt x="443" y="266"/>
                  </a:cubicBezTo>
                  <a:cubicBezTo>
                    <a:pt x="447" y="279"/>
                    <a:pt x="460" y="289"/>
                    <a:pt x="474" y="289"/>
                  </a:cubicBezTo>
                  <a:cubicBezTo>
                    <a:pt x="492" y="289"/>
                    <a:pt x="506" y="274"/>
                    <a:pt x="506" y="256"/>
                  </a:cubicBezTo>
                  <a:cubicBezTo>
                    <a:pt x="506" y="238"/>
                    <a:pt x="492" y="224"/>
                    <a:pt x="474" y="224"/>
                  </a:cubicBezTo>
                  <a:cubicBezTo>
                    <a:pt x="459" y="224"/>
                    <a:pt x="447" y="234"/>
                    <a:pt x="443" y="248"/>
                  </a:cubicBezTo>
                  <a:cubicBezTo>
                    <a:pt x="442" y="251"/>
                    <a:pt x="442" y="251"/>
                    <a:pt x="442" y="251"/>
                  </a:cubicBezTo>
                  <a:cubicBezTo>
                    <a:pt x="401" y="251"/>
                    <a:pt x="401" y="251"/>
                    <a:pt x="401" y="251"/>
                  </a:cubicBezTo>
                  <a:cubicBezTo>
                    <a:pt x="304" y="351"/>
                    <a:pt x="304" y="351"/>
                    <a:pt x="304" y="351"/>
                  </a:cubicBezTo>
                  <a:cubicBezTo>
                    <a:pt x="230" y="351"/>
                    <a:pt x="230" y="351"/>
                    <a:pt x="230" y="351"/>
                  </a:cubicBezTo>
                  <a:cubicBezTo>
                    <a:pt x="229" y="348"/>
                    <a:pt x="229" y="348"/>
                    <a:pt x="229" y="348"/>
                  </a:cubicBezTo>
                  <a:cubicBezTo>
                    <a:pt x="221" y="334"/>
                    <a:pt x="208" y="306"/>
                    <a:pt x="198" y="275"/>
                  </a:cubicBezTo>
                  <a:cubicBezTo>
                    <a:pt x="197" y="269"/>
                    <a:pt x="197" y="269"/>
                    <a:pt x="197" y="269"/>
                  </a:cubicBezTo>
                  <a:cubicBezTo>
                    <a:pt x="265" y="269"/>
                    <a:pt x="265" y="269"/>
                    <a:pt x="265" y="269"/>
                  </a:cubicBezTo>
                  <a:cubicBezTo>
                    <a:pt x="266" y="272"/>
                    <a:pt x="266" y="272"/>
                    <a:pt x="266" y="272"/>
                  </a:cubicBezTo>
                  <a:cubicBezTo>
                    <a:pt x="271" y="285"/>
                    <a:pt x="283" y="294"/>
                    <a:pt x="297" y="294"/>
                  </a:cubicBezTo>
                  <a:cubicBezTo>
                    <a:pt x="315" y="294"/>
                    <a:pt x="329" y="279"/>
                    <a:pt x="329" y="262"/>
                  </a:cubicBezTo>
                  <a:cubicBezTo>
                    <a:pt x="329" y="244"/>
                    <a:pt x="315" y="229"/>
                    <a:pt x="297" y="229"/>
                  </a:cubicBezTo>
                  <a:cubicBezTo>
                    <a:pt x="282" y="229"/>
                    <a:pt x="269" y="240"/>
                    <a:pt x="265" y="254"/>
                  </a:cubicBezTo>
                  <a:cubicBezTo>
                    <a:pt x="265" y="257"/>
                    <a:pt x="265" y="257"/>
                    <a:pt x="265" y="257"/>
                  </a:cubicBezTo>
                  <a:cubicBezTo>
                    <a:pt x="193" y="257"/>
                    <a:pt x="193" y="257"/>
                    <a:pt x="193" y="257"/>
                  </a:cubicBezTo>
                  <a:cubicBezTo>
                    <a:pt x="192" y="254"/>
                    <a:pt x="192" y="254"/>
                    <a:pt x="192" y="254"/>
                  </a:cubicBezTo>
                  <a:cubicBezTo>
                    <a:pt x="188" y="236"/>
                    <a:pt x="185" y="221"/>
                    <a:pt x="186" y="209"/>
                  </a:cubicBezTo>
                  <a:cubicBezTo>
                    <a:pt x="186" y="200"/>
                    <a:pt x="187" y="190"/>
                    <a:pt x="189" y="180"/>
                  </a:cubicBezTo>
                  <a:cubicBezTo>
                    <a:pt x="190" y="176"/>
                    <a:pt x="190" y="176"/>
                    <a:pt x="190" y="176"/>
                  </a:cubicBezTo>
                  <a:cubicBezTo>
                    <a:pt x="320" y="176"/>
                    <a:pt x="320" y="176"/>
                    <a:pt x="320" y="176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5" y="193"/>
                    <a:pt x="338" y="202"/>
                    <a:pt x="352" y="202"/>
                  </a:cubicBezTo>
                  <a:cubicBezTo>
                    <a:pt x="370" y="202"/>
                    <a:pt x="384" y="187"/>
                    <a:pt x="384" y="170"/>
                  </a:cubicBezTo>
                  <a:cubicBezTo>
                    <a:pt x="384" y="152"/>
                    <a:pt x="370" y="137"/>
                    <a:pt x="352" y="137"/>
                  </a:cubicBezTo>
                  <a:cubicBezTo>
                    <a:pt x="337" y="137"/>
                    <a:pt x="324" y="147"/>
                    <a:pt x="321" y="161"/>
                  </a:cubicBezTo>
                  <a:cubicBezTo>
                    <a:pt x="320" y="164"/>
                    <a:pt x="320" y="164"/>
                    <a:pt x="320" y="164"/>
                  </a:cubicBezTo>
                  <a:cubicBezTo>
                    <a:pt x="193" y="164"/>
                    <a:pt x="193" y="164"/>
                    <a:pt x="193" y="164"/>
                  </a:cubicBezTo>
                  <a:cubicBezTo>
                    <a:pt x="195" y="159"/>
                    <a:pt x="195" y="159"/>
                    <a:pt x="195" y="159"/>
                  </a:cubicBezTo>
                  <a:cubicBezTo>
                    <a:pt x="204" y="133"/>
                    <a:pt x="220" y="110"/>
                    <a:pt x="241" y="89"/>
                  </a:cubicBezTo>
                  <a:cubicBezTo>
                    <a:pt x="242" y="88"/>
                    <a:pt x="242" y="88"/>
                    <a:pt x="242" y="88"/>
                  </a:cubicBezTo>
                  <a:cubicBezTo>
                    <a:pt x="374" y="88"/>
                    <a:pt x="374" y="88"/>
                    <a:pt x="374" y="88"/>
                  </a:cubicBezTo>
                  <a:cubicBezTo>
                    <a:pt x="432" y="131"/>
                    <a:pt x="432" y="131"/>
                    <a:pt x="432" y="131"/>
                  </a:cubicBezTo>
                  <a:cubicBezTo>
                    <a:pt x="430" y="134"/>
                    <a:pt x="430" y="134"/>
                    <a:pt x="430" y="134"/>
                  </a:cubicBezTo>
                  <a:cubicBezTo>
                    <a:pt x="426" y="140"/>
                    <a:pt x="424" y="146"/>
                    <a:pt x="424" y="153"/>
                  </a:cubicBezTo>
                  <a:cubicBezTo>
                    <a:pt x="424" y="170"/>
                    <a:pt x="439" y="185"/>
                    <a:pt x="457" y="185"/>
                  </a:cubicBezTo>
                  <a:cubicBezTo>
                    <a:pt x="474" y="185"/>
                    <a:pt x="489" y="170"/>
                    <a:pt x="489" y="153"/>
                  </a:cubicBezTo>
                  <a:cubicBezTo>
                    <a:pt x="489" y="135"/>
                    <a:pt x="474" y="120"/>
                    <a:pt x="457" y="120"/>
                  </a:cubicBezTo>
                  <a:cubicBezTo>
                    <a:pt x="452" y="120"/>
                    <a:pt x="448" y="121"/>
                    <a:pt x="444" y="123"/>
                  </a:cubicBezTo>
                  <a:cubicBezTo>
                    <a:pt x="442" y="124"/>
                    <a:pt x="442" y="124"/>
                    <a:pt x="442" y="124"/>
                  </a:cubicBezTo>
                  <a:cubicBezTo>
                    <a:pt x="378" y="76"/>
                    <a:pt x="378" y="76"/>
                    <a:pt x="378" y="76"/>
                  </a:cubicBezTo>
                  <a:cubicBezTo>
                    <a:pt x="255" y="76"/>
                    <a:pt x="255" y="76"/>
                    <a:pt x="255" y="76"/>
                  </a:cubicBezTo>
                  <a:cubicBezTo>
                    <a:pt x="265" y="68"/>
                    <a:pt x="265" y="68"/>
                    <a:pt x="265" y="68"/>
                  </a:cubicBezTo>
                  <a:cubicBezTo>
                    <a:pt x="312" y="33"/>
                    <a:pt x="375" y="13"/>
                    <a:pt x="436" y="12"/>
                  </a:cubicBezTo>
                  <a:cubicBezTo>
                    <a:pt x="437" y="12"/>
                    <a:pt x="437" y="12"/>
                    <a:pt x="438" y="12"/>
                  </a:cubicBezTo>
                  <a:cubicBezTo>
                    <a:pt x="504" y="12"/>
                    <a:pt x="566" y="47"/>
                    <a:pt x="601" y="102"/>
                  </a:cubicBezTo>
                  <a:cubicBezTo>
                    <a:pt x="630" y="148"/>
                    <a:pt x="634" y="200"/>
                    <a:pt x="612" y="244"/>
                  </a:cubicBezTo>
                  <a:cubicBezTo>
                    <a:pt x="606" y="257"/>
                    <a:pt x="617" y="270"/>
                    <a:pt x="623" y="277"/>
                  </a:cubicBezTo>
                  <a:cubicBezTo>
                    <a:pt x="677" y="338"/>
                    <a:pt x="677" y="338"/>
                    <a:pt x="677" y="338"/>
                  </a:cubicBezTo>
                  <a:lnTo>
                    <a:pt x="640" y="338"/>
                  </a:lnTo>
                  <a:close/>
                  <a:moveTo>
                    <a:pt x="374" y="549"/>
                  </a:moveTo>
                  <a:cubicBezTo>
                    <a:pt x="374" y="538"/>
                    <a:pt x="383" y="529"/>
                    <a:pt x="394" y="529"/>
                  </a:cubicBezTo>
                  <a:cubicBezTo>
                    <a:pt x="405" y="529"/>
                    <a:pt x="414" y="538"/>
                    <a:pt x="414" y="549"/>
                  </a:cubicBezTo>
                  <a:cubicBezTo>
                    <a:pt x="414" y="560"/>
                    <a:pt x="405" y="569"/>
                    <a:pt x="394" y="569"/>
                  </a:cubicBezTo>
                  <a:cubicBezTo>
                    <a:pt x="383" y="569"/>
                    <a:pt x="374" y="560"/>
                    <a:pt x="374" y="549"/>
                  </a:cubicBezTo>
                  <a:close/>
                  <a:moveTo>
                    <a:pt x="432" y="445"/>
                  </a:moveTo>
                  <a:cubicBezTo>
                    <a:pt x="432" y="434"/>
                    <a:pt x="441" y="425"/>
                    <a:pt x="452" y="425"/>
                  </a:cubicBezTo>
                  <a:cubicBezTo>
                    <a:pt x="463" y="425"/>
                    <a:pt x="472" y="434"/>
                    <a:pt x="472" y="445"/>
                  </a:cubicBezTo>
                  <a:cubicBezTo>
                    <a:pt x="472" y="456"/>
                    <a:pt x="463" y="466"/>
                    <a:pt x="452" y="466"/>
                  </a:cubicBezTo>
                  <a:cubicBezTo>
                    <a:pt x="441" y="466"/>
                    <a:pt x="432" y="456"/>
                    <a:pt x="432" y="445"/>
                  </a:cubicBezTo>
                  <a:close/>
                  <a:moveTo>
                    <a:pt x="490" y="358"/>
                  </a:moveTo>
                  <a:cubicBezTo>
                    <a:pt x="490" y="347"/>
                    <a:pt x="499" y="338"/>
                    <a:pt x="511" y="338"/>
                  </a:cubicBezTo>
                  <a:cubicBezTo>
                    <a:pt x="522" y="338"/>
                    <a:pt x="531" y="347"/>
                    <a:pt x="531" y="358"/>
                  </a:cubicBezTo>
                  <a:cubicBezTo>
                    <a:pt x="531" y="369"/>
                    <a:pt x="522" y="378"/>
                    <a:pt x="511" y="378"/>
                  </a:cubicBezTo>
                  <a:cubicBezTo>
                    <a:pt x="499" y="378"/>
                    <a:pt x="490" y="369"/>
                    <a:pt x="490" y="358"/>
                  </a:cubicBezTo>
                  <a:close/>
                  <a:moveTo>
                    <a:pt x="454" y="256"/>
                  </a:moveTo>
                  <a:cubicBezTo>
                    <a:pt x="454" y="255"/>
                    <a:pt x="454" y="255"/>
                    <a:pt x="454" y="255"/>
                  </a:cubicBezTo>
                  <a:cubicBezTo>
                    <a:pt x="454" y="254"/>
                    <a:pt x="454" y="254"/>
                    <a:pt x="454" y="254"/>
                  </a:cubicBezTo>
                  <a:cubicBezTo>
                    <a:pt x="455" y="244"/>
                    <a:pt x="464" y="236"/>
                    <a:pt x="474" y="236"/>
                  </a:cubicBezTo>
                  <a:cubicBezTo>
                    <a:pt x="485" y="236"/>
                    <a:pt x="494" y="245"/>
                    <a:pt x="494" y="256"/>
                  </a:cubicBezTo>
                  <a:cubicBezTo>
                    <a:pt x="494" y="267"/>
                    <a:pt x="485" y="277"/>
                    <a:pt x="474" y="277"/>
                  </a:cubicBezTo>
                  <a:cubicBezTo>
                    <a:pt x="464" y="277"/>
                    <a:pt x="456" y="269"/>
                    <a:pt x="454" y="259"/>
                  </a:cubicBezTo>
                  <a:cubicBezTo>
                    <a:pt x="454" y="259"/>
                    <a:pt x="454" y="259"/>
                    <a:pt x="454" y="259"/>
                  </a:cubicBezTo>
                  <a:cubicBezTo>
                    <a:pt x="454" y="258"/>
                    <a:pt x="454" y="258"/>
                    <a:pt x="454" y="258"/>
                  </a:cubicBezTo>
                  <a:cubicBezTo>
                    <a:pt x="454" y="258"/>
                    <a:pt x="454" y="257"/>
                    <a:pt x="454" y="257"/>
                  </a:cubicBezTo>
                  <a:cubicBezTo>
                    <a:pt x="454" y="257"/>
                    <a:pt x="454" y="256"/>
                    <a:pt x="454" y="256"/>
                  </a:cubicBezTo>
                  <a:close/>
                  <a:moveTo>
                    <a:pt x="276" y="262"/>
                  </a:moveTo>
                  <a:cubicBezTo>
                    <a:pt x="276" y="250"/>
                    <a:pt x="286" y="241"/>
                    <a:pt x="297" y="241"/>
                  </a:cubicBezTo>
                  <a:cubicBezTo>
                    <a:pt x="308" y="241"/>
                    <a:pt x="317" y="250"/>
                    <a:pt x="317" y="262"/>
                  </a:cubicBezTo>
                  <a:cubicBezTo>
                    <a:pt x="317" y="273"/>
                    <a:pt x="308" y="282"/>
                    <a:pt x="297" y="282"/>
                  </a:cubicBezTo>
                  <a:cubicBezTo>
                    <a:pt x="286" y="282"/>
                    <a:pt x="276" y="273"/>
                    <a:pt x="276" y="262"/>
                  </a:cubicBezTo>
                  <a:close/>
                  <a:moveTo>
                    <a:pt x="332" y="170"/>
                  </a:moveTo>
                  <a:cubicBezTo>
                    <a:pt x="332" y="158"/>
                    <a:pt x="341" y="149"/>
                    <a:pt x="352" y="149"/>
                  </a:cubicBezTo>
                  <a:cubicBezTo>
                    <a:pt x="363" y="149"/>
                    <a:pt x="372" y="158"/>
                    <a:pt x="372" y="170"/>
                  </a:cubicBezTo>
                  <a:cubicBezTo>
                    <a:pt x="372" y="181"/>
                    <a:pt x="363" y="190"/>
                    <a:pt x="352" y="190"/>
                  </a:cubicBezTo>
                  <a:cubicBezTo>
                    <a:pt x="341" y="190"/>
                    <a:pt x="332" y="181"/>
                    <a:pt x="332" y="170"/>
                  </a:cubicBezTo>
                  <a:close/>
                  <a:moveTo>
                    <a:pt x="436" y="153"/>
                  </a:moveTo>
                  <a:cubicBezTo>
                    <a:pt x="436" y="141"/>
                    <a:pt x="445" y="132"/>
                    <a:pt x="457" y="132"/>
                  </a:cubicBezTo>
                  <a:cubicBezTo>
                    <a:pt x="468" y="132"/>
                    <a:pt x="477" y="141"/>
                    <a:pt x="477" y="153"/>
                  </a:cubicBezTo>
                  <a:cubicBezTo>
                    <a:pt x="477" y="164"/>
                    <a:pt x="468" y="173"/>
                    <a:pt x="457" y="173"/>
                  </a:cubicBezTo>
                  <a:cubicBezTo>
                    <a:pt x="445" y="173"/>
                    <a:pt x="436" y="164"/>
                    <a:pt x="436" y="153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76"/>
            <p:cNvSpPr>
              <a:spLocks/>
            </p:cNvSpPr>
            <p:nvPr/>
          </p:nvSpPr>
          <p:spPr bwMode="auto">
            <a:xfrm>
              <a:off x="889" y="1366"/>
              <a:ext cx="61" cy="71"/>
            </a:xfrm>
            <a:custGeom>
              <a:avLst/>
              <a:gdLst>
                <a:gd name="T0" fmla="*/ 2 w 73"/>
                <a:gd name="T1" fmla="*/ 3 h 85"/>
                <a:gd name="T2" fmla="*/ 3 w 73"/>
                <a:gd name="T3" fmla="*/ 11 h 85"/>
                <a:gd name="T4" fmla="*/ 12 w 73"/>
                <a:gd name="T5" fmla="*/ 17 h 85"/>
                <a:gd name="T6" fmla="*/ 61 w 73"/>
                <a:gd name="T7" fmla="*/ 81 h 85"/>
                <a:gd name="T8" fmla="*/ 69 w 73"/>
                <a:gd name="T9" fmla="*/ 84 h 85"/>
                <a:gd name="T10" fmla="*/ 72 w 73"/>
                <a:gd name="T11" fmla="*/ 81 h 85"/>
                <a:gd name="T12" fmla="*/ 72 w 73"/>
                <a:gd name="T13" fmla="*/ 77 h 85"/>
                <a:gd name="T14" fmla="*/ 19 w 73"/>
                <a:gd name="T15" fmla="*/ 7 h 85"/>
                <a:gd name="T16" fmla="*/ 19 w 73"/>
                <a:gd name="T17" fmla="*/ 7 h 85"/>
                <a:gd name="T18" fmla="*/ 10 w 73"/>
                <a:gd name="T19" fmla="*/ 1 h 85"/>
                <a:gd name="T20" fmla="*/ 7 w 73"/>
                <a:gd name="T21" fmla="*/ 0 h 85"/>
                <a:gd name="T22" fmla="*/ 2 w 73"/>
                <a:gd name="T23" fmla="*/ 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3" h="85">
                  <a:moveTo>
                    <a:pt x="2" y="3"/>
                  </a:moveTo>
                  <a:cubicBezTo>
                    <a:pt x="0" y="5"/>
                    <a:pt x="1" y="9"/>
                    <a:pt x="3" y="11"/>
                  </a:cubicBezTo>
                  <a:cubicBezTo>
                    <a:pt x="6" y="13"/>
                    <a:pt x="9" y="15"/>
                    <a:pt x="12" y="17"/>
                  </a:cubicBezTo>
                  <a:cubicBezTo>
                    <a:pt x="35" y="33"/>
                    <a:pt x="52" y="55"/>
                    <a:pt x="61" y="81"/>
                  </a:cubicBezTo>
                  <a:cubicBezTo>
                    <a:pt x="62" y="84"/>
                    <a:pt x="66" y="85"/>
                    <a:pt x="69" y="84"/>
                  </a:cubicBezTo>
                  <a:cubicBezTo>
                    <a:pt x="70" y="84"/>
                    <a:pt x="72" y="83"/>
                    <a:pt x="72" y="81"/>
                  </a:cubicBezTo>
                  <a:cubicBezTo>
                    <a:pt x="73" y="80"/>
                    <a:pt x="73" y="78"/>
                    <a:pt x="72" y="77"/>
                  </a:cubicBezTo>
                  <a:cubicBezTo>
                    <a:pt x="62" y="49"/>
                    <a:pt x="44" y="25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6" y="5"/>
                    <a:pt x="13" y="3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5" y="0"/>
                    <a:pt x="3" y="1"/>
                    <a:pt x="2" y="3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77"/>
            <p:cNvSpPr>
              <a:spLocks/>
            </p:cNvSpPr>
            <p:nvPr/>
          </p:nvSpPr>
          <p:spPr bwMode="auto">
            <a:xfrm>
              <a:off x="847" y="1345"/>
              <a:ext cx="22" cy="16"/>
            </a:xfrm>
            <a:custGeom>
              <a:avLst/>
              <a:gdLst>
                <a:gd name="T0" fmla="*/ 1 w 27"/>
                <a:gd name="T1" fmla="*/ 4 h 18"/>
                <a:gd name="T2" fmla="*/ 1 w 27"/>
                <a:gd name="T3" fmla="*/ 8 h 18"/>
                <a:gd name="T4" fmla="*/ 4 w 27"/>
                <a:gd name="T5" fmla="*/ 11 h 18"/>
                <a:gd name="T6" fmla="*/ 19 w 27"/>
                <a:gd name="T7" fmla="*/ 17 h 18"/>
                <a:gd name="T8" fmla="*/ 27 w 27"/>
                <a:gd name="T9" fmla="*/ 14 h 18"/>
                <a:gd name="T10" fmla="*/ 27 w 27"/>
                <a:gd name="T11" fmla="*/ 9 h 18"/>
                <a:gd name="T12" fmla="*/ 24 w 27"/>
                <a:gd name="T13" fmla="*/ 6 h 18"/>
                <a:gd name="T14" fmla="*/ 8 w 27"/>
                <a:gd name="T15" fmla="*/ 0 h 18"/>
                <a:gd name="T16" fmla="*/ 6 w 27"/>
                <a:gd name="T17" fmla="*/ 0 h 18"/>
                <a:gd name="T18" fmla="*/ 1 w 27"/>
                <a:gd name="T19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18">
                  <a:moveTo>
                    <a:pt x="1" y="4"/>
                  </a:moveTo>
                  <a:cubicBezTo>
                    <a:pt x="0" y="5"/>
                    <a:pt x="0" y="7"/>
                    <a:pt x="1" y="8"/>
                  </a:cubicBezTo>
                  <a:cubicBezTo>
                    <a:pt x="2" y="10"/>
                    <a:pt x="3" y="11"/>
                    <a:pt x="4" y="11"/>
                  </a:cubicBezTo>
                  <a:cubicBezTo>
                    <a:pt x="9" y="13"/>
                    <a:pt x="14" y="15"/>
                    <a:pt x="19" y="17"/>
                  </a:cubicBezTo>
                  <a:cubicBezTo>
                    <a:pt x="22" y="18"/>
                    <a:pt x="26" y="17"/>
                    <a:pt x="27" y="14"/>
                  </a:cubicBezTo>
                  <a:cubicBezTo>
                    <a:pt x="27" y="12"/>
                    <a:pt x="27" y="10"/>
                    <a:pt x="27" y="9"/>
                  </a:cubicBezTo>
                  <a:cubicBezTo>
                    <a:pt x="26" y="8"/>
                    <a:pt x="25" y="6"/>
                    <a:pt x="24" y="6"/>
                  </a:cubicBezTo>
                  <a:cubicBezTo>
                    <a:pt x="18" y="4"/>
                    <a:pt x="13" y="2"/>
                    <a:pt x="8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4" y="0"/>
                    <a:pt x="1" y="1"/>
                    <a:pt x="1" y="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78"/>
            <p:cNvSpPr>
              <a:spLocks noEditPoints="1"/>
            </p:cNvSpPr>
            <p:nvPr/>
          </p:nvSpPr>
          <p:spPr bwMode="auto">
            <a:xfrm>
              <a:off x="446" y="1671"/>
              <a:ext cx="193" cy="193"/>
            </a:xfrm>
            <a:custGeom>
              <a:avLst/>
              <a:gdLst>
                <a:gd name="T0" fmla="*/ 219 w 230"/>
                <a:gd name="T1" fmla="*/ 170 h 230"/>
                <a:gd name="T2" fmla="*/ 230 w 230"/>
                <a:gd name="T3" fmla="*/ 139 h 230"/>
                <a:gd name="T4" fmla="*/ 210 w 230"/>
                <a:gd name="T5" fmla="*/ 104 h 230"/>
                <a:gd name="T6" fmla="*/ 227 w 230"/>
                <a:gd name="T7" fmla="*/ 80 h 230"/>
                <a:gd name="T8" fmla="*/ 188 w 230"/>
                <a:gd name="T9" fmla="*/ 53 h 230"/>
                <a:gd name="T10" fmla="*/ 173 w 230"/>
                <a:gd name="T11" fmla="*/ 38 h 230"/>
                <a:gd name="T12" fmla="*/ 157 w 230"/>
                <a:gd name="T13" fmla="*/ 5 h 230"/>
                <a:gd name="T14" fmla="*/ 123 w 230"/>
                <a:gd name="T15" fmla="*/ 19 h 230"/>
                <a:gd name="T16" fmla="*/ 102 w 230"/>
                <a:gd name="T17" fmla="*/ 20 h 230"/>
                <a:gd name="T18" fmla="*/ 54 w 230"/>
                <a:gd name="T19" fmla="*/ 14 h 230"/>
                <a:gd name="T20" fmla="*/ 51 w 230"/>
                <a:gd name="T21" fmla="*/ 43 h 230"/>
                <a:gd name="T22" fmla="*/ 13 w 230"/>
                <a:gd name="T23" fmla="*/ 56 h 230"/>
                <a:gd name="T24" fmla="*/ 1 w 230"/>
                <a:gd name="T25" fmla="*/ 87 h 230"/>
                <a:gd name="T26" fmla="*/ 19 w 230"/>
                <a:gd name="T27" fmla="*/ 109 h 230"/>
                <a:gd name="T28" fmla="*/ 1 w 230"/>
                <a:gd name="T29" fmla="*/ 146 h 230"/>
                <a:gd name="T30" fmla="*/ 16 w 230"/>
                <a:gd name="T31" fmla="*/ 179 h 230"/>
                <a:gd name="T32" fmla="*/ 55 w 230"/>
                <a:gd name="T33" fmla="*/ 190 h 230"/>
                <a:gd name="T34" fmla="*/ 60 w 230"/>
                <a:gd name="T35" fmla="*/ 219 h 230"/>
                <a:gd name="T36" fmla="*/ 90 w 230"/>
                <a:gd name="T37" fmla="*/ 230 h 230"/>
                <a:gd name="T38" fmla="*/ 126 w 230"/>
                <a:gd name="T39" fmla="*/ 210 h 230"/>
                <a:gd name="T40" fmla="*/ 149 w 230"/>
                <a:gd name="T41" fmla="*/ 227 h 230"/>
                <a:gd name="T42" fmla="*/ 177 w 230"/>
                <a:gd name="T43" fmla="*/ 188 h 230"/>
                <a:gd name="T44" fmla="*/ 192 w 230"/>
                <a:gd name="T45" fmla="*/ 173 h 230"/>
                <a:gd name="T46" fmla="*/ 165 w 230"/>
                <a:gd name="T47" fmla="*/ 183 h 230"/>
                <a:gd name="T48" fmla="*/ 152 w 230"/>
                <a:gd name="T49" fmla="*/ 214 h 230"/>
                <a:gd name="T50" fmla="*/ 129 w 230"/>
                <a:gd name="T51" fmla="*/ 198 h 230"/>
                <a:gd name="T52" fmla="*/ 86 w 230"/>
                <a:gd name="T53" fmla="*/ 216 h 230"/>
                <a:gd name="T54" fmla="*/ 71 w 230"/>
                <a:gd name="T55" fmla="*/ 211 h 230"/>
                <a:gd name="T56" fmla="*/ 66 w 230"/>
                <a:gd name="T57" fmla="*/ 184 h 230"/>
                <a:gd name="T58" fmla="*/ 23 w 230"/>
                <a:gd name="T59" fmla="*/ 166 h 230"/>
                <a:gd name="T60" fmla="*/ 15 w 230"/>
                <a:gd name="T61" fmla="*/ 149 h 230"/>
                <a:gd name="T62" fmla="*/ 31 w 230"/>
                <a:gd name="T63" fmla="*/ 105 h 230"/>
                <a:gd name="T64" fmla="*/ 14 w 230"/>
                <a:gd name="T65" fmla="*/ 83 h 230"/>
                <a:gd name="T66" fmla="*/ 20 w 230"/>
                <a:gd name="T67" fmla="*/ 68 h 230"/>
                <a:gd name="T68" fmla="*/ 63 w 230"/>
                <a:gd name="T69" fmla="*/ 49 h 230"/>
                <a:gd name="T70" fmla="*/ 66 w 230"/>
                <a:gd name="T71" fmla="*/ 21 h 230"/>
                <a:gd name="T72" fmla="*/ 97 w 230"/>
                <a:gd name="T73" fmla="*/ 32 h 230"/>
                <a:gd name="T74" fmla="*/ 128 w 230"/>
                <a:gd name="T75" fmla="*/ 32 h 230"/>
                <a:gd name="T76" fmla="*/ 153 w 230"/>
                <a:gd name="T77" fmla="*/ 16 h 230"/>
                <a:gd name="T78" fmla="*/ 161 w 230"/>
                <a:gd name="T79" fmla="*/ 44 h 230"/>
                <a:gd name="T80" fmla="*/ 183 w 230"/>
                <a:gd name="T81" fmla="*/ 65 h 230"/>
                <a:gd name="T82" fmla="*/ 214 w 230"/>
                <a:gd name="T83" fmla="*/ 78 h 230"/>
                <a:gd name="T84" fmla="*/ 198 w 230"/>
                <a:gd name="T85" fmla="*/ 100 h 230"/>
                <a:gd name="T86" fmla="*/ 217 w 230"/>
                <a:gd name="T87" fmla="*/ 144 h 230"/>
                <a:gd name="T88" fmla="*/ 214 w 230"/>
                <a:gd name="T89" fmla="*/ 152 h 230"/>
                <a:gd name="T90" fmla="*/ 185 w 230"/>
                <a:gd name="T91" fmla="*/ 16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30" h="230">
                  <a:moveTo>
                    <a:pt x="192" y="173"/>
                  </a:moveTo>
                  <a:cubicBezTo>
                    <a:pt x="217" y="173"/>
                    <a:pt x="217" y="173"/>
                    <a:pt x="217" y="173"/>
                  </a:cubicBezTo>
                  <a:cubicBezTo>
                    <a:pt x="219" y="170"/>
                    <a:pt x="219" y="170"/>
                    <a:pt x="219" y="170"/>
                  </a:cubicBezTo>
                  <a:cubicBezTo>
                    <a:pt x="221" y="166"/>
                    <a:pt x="223" y="161"/>
                    <a:pt x="225" y="157"/>
                  </a:cubicBezTo>
                  <a:cubicBezTo>
                    <a:pt x="226" y="152"/>
                    <a:pt x="228" y="148"/>
                    <a:pt x="229" y="143"/>
                  </a:cubicBezTo>
                  <a:cubicBezTo>
                    <a:pt x="230" y="139"/>
                    <a:pt x="230" y="139"/>
                    <a:pt x="230" y="139"/>
                  </a:cubicBezTo>
                  <a:cubicBezTo>
                    <a:pt x="211" y="123"/>
                    <a:pt x="211" y="123"/>
                    <a:pt x="211" y="123"/>
                  </a:cubicBezTo>
                  <a:cubicBezTo>
                    <a:pt x="211" y="121"/>
                    <a:pt x="211" y="121"/>
                    <a:pt x="211" y="121"/>
                  </a:cubicBezTo>
                  <a:cubicBezTo>
                    <a:pt x="211" y="115"/>
                    <a:pt x="211" y="109"/>
                    <a:pt x="210" y="104"/>
                  </a:cubicBezTo>
                  <a:cubicBezTo>
                    <a:pt x="210" y="102"/>
                    <a:pt x="210" y="102"/>
                    <a:pt x="210" y="102"/>
                  </a:cubicBezTo>
                  <a:cubicBezTo>
                    <a:pt x="229" y="84"/>
                    <a:pt x="229" y="84"/>
                    <a:pt x="229" y="84"/>
                  </a:cubicBezTo>
                  <a:cubicBezTo>
                    <a:pt x="227" y="80"/>
                    <a:pt x="227" y="80"/>
                    <a:pt x="227" y="80"/>
                  </a:cubicBezTo>
                  <a:cubicBezTo>
                    <a:pt x="225" y="71"/>
                    <a:pt x="221" y="62"/>
                    <a:pt x="215" y="54"/>
                  </a:cubicBezTo>
                  <a:cubicBezTo>
                    <a:pt x="214" y="51"/>
                    <a:pt x="214" y="51"/>
                    <a:pt x="214" y="51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7" y="51"/>
                    <a:pt x="187" y="51"/>
                    <a:pt x="187" y="51"/>
                  </a:cubicBezTo>
                  <a:cubicBezTo>
                    <a:pt x="183" y="47"/>
                    <a:pt x="179" y="43"/>
                    <a:pt x="174" y="39"/>
                  </a:cubicBezTo>
                  <a:cubicBezTo>
                    <a:pt x="173" y="38"/>
                    <a:pt x="173" y="38"/>
                    <a:pt x="173" y="38"/>
                  </a:cubicBezTo>
                  <a:cubicBezTo>
                    <a:pt x="173" y="13"/>
                    <a:pt x="173" y="13"/>
                    <a:pt x="173" y="13"/>
                  </a:cubicBezTo>
                  <a:cubicBezTo>
                    <a:pt x="170" y="11"/>
                    <a:pt x="170" y="11"/>
                    <a:pt x="170" y="11"/>
                  </a:cubicBezTo>
                  <a:cubicBezTo>
                    <a:pt x="166" y="9"/>
                    <a:pt x="161" y="7"/>
                    <a:pt x="157" y="5"/>
                  </a:cubicBezTo>
                  <a:cubicBezTo>
                    <a:pt x="151" y="3"/>
                    <a:pt x="147" y="1"/>
                    <a:pt x="143" y="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23" y="19"/>
                    <a:pt x="123" y="19"/>
                    <a:pt x="123" y="19"/>
                  </a:cubicBezTo>
                  <a:cubicBezTo>
                    <a:pt x="121" y="19"/>
                    <a:pt x="121" y="19"/>
                    <a:pt x="121" y="19"/>
                  </a:cubicBezTo>
                  <a:cubicBezTo>
                    <a:pt x="115" y="18"/>
                    <a:pt x="109" y="19"/>
                    <a:pt x="104" y="19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81" y="2"/>
                    <a:pt x="81" y="2"/>
                    <a:pt x="81" y="2"/>
                  </a:cubicBezTo>
                  <a:cubicBezTo>
                    <a:pt x="71" y="5"/>
                    <a:pt x="62" y="9"/>
                    <a:pt x="54" y="14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1" y="43"/>
                    <a:pt x="51" y="43"/>
                    <a:pt x="51" y="43"/>
                  </a:cubicBezTo>
                  <a:cubicBezTo>
                    <a:pt x="47" y="47"/>
                    <a:pt x="43" y="51"/>
                    <a:pt x="39" y="55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63"/>
                    <a:pt x="7" y="68"/>
                    <a:pt x="5" y="73"/>
                  </a:cubicBezTo>
                  <a:cubicBezTo>
                    <a:pt x="3" y="77"/>
                    <a:pt x="2" y="82"/>
                    <a:pt x="1" y="8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19" y="107"/>
                    <a:pt x="19" y="107"/>
                    <a:pt x="19" y="107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19" y="115"/>
                    <a:pt x="19" y="120"/>
                    <a:pt x="19" y="126"/>
                  </a:cubicBezTo>
                  <a:cubicBezTo>
                    <a:pt x="20" y="128"/>
                    <a:pt x="20" y="128"/>
                    <a:pt x="20" y="128"/>
                  </a:cubicBezTo>
                  <a:cubicBezTo>
                    <a:pt x="1" y="146"/>
                    <a:pt x="1" y="146"/>
                    <a:pt x="1" y="146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5" y="159"/>
                    <a:pt x="9" y="168"/>
                    <a:pt x="14" y="176"/>
                  </a:cubicBezTo>
                  <a:cubicBezTo>
                    <a:pt x="16" y="179"/>
                    <a:pt x="16" y="179"/>
                    <a:pt x="16" y="179"/>
                  </a:cubicBezTo>
                  <a:cubicBezTo>
                    <a:pt x="42" y="177"/>
                    <a:pt x="42" y="177"/>
                    <a:pt x="42" y="177"/>
                  </a:cubicBezTo>
                  <a:cubicBezTo>
                    <a:pt x="43" y="178"/>
                    <a:pt x="43" y="178"/>
                    <a:pt x="43" y="178"/>
                  </a:cubicBezTo>
                  <a:cubicBezTo>
                    <a:pt x="47" y="183"/>
                    <a:pt x="51" y="187"/>
                    <a:pt x="55" y="190"/>
                  </a:cubicBezTo>
                  <a:cubicBezTo>
                    <a:pt x="57" y="191"/>
                    <a:pt x="57" y="191"/>
                    <a:pt x="57" y="191"/>
                  </a:cubicBezTo>
                  <a:cubicBezTo>
                    <a:pt x="56" y="217"/>
                    <a:pt x="56" y="217"/>
                    <a:pt x="56" y="217"/>
                  </a:cubicBezTo>
                  <a:cubicBezTo>
                    <a:pt x="60" y="219"/>
                    <a:pt x="60" y="219"/>
                    <a:pt x="60" y="219"/>
                  </a:cubicBezTo>
                  <a:cubicBezTo>
                    <a:pt x="64" y="221"/>
                    <a:pt x="68" y="223"/>
                    <a:pt x="73" y="225"/>
                  </a:cubicBezTo>
                  <a:cubicBezTo>
                    <a:pt x="77" y="226"/>
                    <a:pt x="82" y="228"/>
                    <a:pt x="87" y="229"/>
                  </a:cubicBezTo>
                  <a:cubicBezTo>
                    <a:pt x="90" y="230"/>
                    <a:pt x="90" y="230"/>
                    <a:pt x="90" y="230"/>
                  </a:cubicBezTo>
                  <a:cubicBezTo>
                    <a:pt x="107" y="211"/>
                    <a:pt x="107" y="211"/>
                    <a:pt x="107" y="211"/>
                  </a:cubicBezTo>
                  <a:cubicBezTo>
                    <a:pt x="109" y="211"/>
                    <a:pt x="109" y="211"/>
                    <a:pt x="109" y="211"/>
                  </a:cubicBezTo>
                  <a:cubicBezTo>
                    <a:pt x="115" y="211"/>
                    <a:pt x="120" y="211"/>
                    <a:pt x="126" y="210"/>
                  </a:cubicBezTo>
                  <a:cubicBezTo>
                    <a:pt x="128" y="210"/>
                    <a:pt x="128" y="210"/>
                    <a:pt x="128" y="210"/>
                  </a:cubicBezTo>
                  <a:cubicBezTo>
                    <a:pt x="146" y="228"/>
                    <a:pt x="146" y="228"/>
                    <a:pt x="146" y="228"/>
                  </a:cubicBezTo>
                  <a:cubicBezTo>
                    <a:pt x="149" y="227"/>
                    <a:pt x="149" y="227"/>
                    <a:pt x="149" y="227"/>
                  </a:cubicBezTo>
                  <a:cubicBezTo>
                    <a:pt x="158" y="225"/>
                    <a:pt x="167" y="221"/>
                    <a:pt x="176" y="215"/>
                  </a:cubicBezTo>
                  <a:cubicBezTo>
                    <a:pt x="179" y="214"/>
                    <a:pt x="179" y="214"/>
                    <a:pt x="179" y="214"/>
                  </a:cubicBezTo>
                  <a:cubicBezTo>
                    <a:pt x="177" y="188"/>
                    <a:pt x="177" y="188"/>
                    <a:pt x="177" y="188"/>
                  </a:cubicBezTo>
                  <a:cubicBezTo>
                    <a:pt x="179" y="187"/>
                    <a:pt x="179" y="187"/>
                    <a:pt x="179" y="187"/>
                  </a:cubicBezTo>
                  <a:cubicBezTo>
                    <a:pt x="183" y="183"/>
                    <a:pt x="187" y="179"/>
                    <a:pt x="190" y="174"/>
                  </a:cubicBezTo>
                  <a:lnTo>
                    <a:pt x="192" y="173"/>
                  </a:lnTo>
                  <a:close/>
                  <a:moveTo>
                    <a:pt x="184" y="163"/>
                  </a:moveTo>
                  <a:cubicBezTo>
                    <a:pt x="179" y="170"/>
                    <a:pt x="174" y="176"/>
                    <a:pt x="167" y="181"/>
                  </a:cubicBezTo>
                  <a:cubicBezTo>
                    <a:pt x="165" y="183"/>
                    <a:pt x="165" y="183"/>
                    <a:pt x="165" y="183"/>
                  </a:cubicBezTo>
                  <a:cubicBezTo>
                    <a:pt x="166" y="207"/>
                    <a:pt x="166" y="207"/>
                    <a:pt x="166" y="207"/>
                  </a:cubicBezTo>
                  <a:cubicBezTo>
                    <a:pt x="164" y="208"/>
                    <a:pt x="164" y="208"/>
                    <a:pt x="164" y="208"/>
                  </a:cubicBezTo>
                  <a:cubicBezTo>
                    <a:pt x="160" y="210"/>
                    <a:pt x="156" y="212"/>
                    <a:pt x="152" y="214"/>
                  </a:cubicBezTo>
                  <a:cubicBezTo>
                    <a:pt x="149" y="215"/>
                    <a:pt x="149" y="215"/>
                    <a:pt x="149" y="215"/>
                  </a:cubicBezTo>
                  <a:cubicBezTo>
                    <a:pt x="132" y="197"/>
                    <a:pt x="132" y="197"/>
                    <a:pt x="132" y="197"/>
                  </a:cubicBezTo>
                  <a:cubicBezTo>
                    <a:pt x="129" y="198"/>
                    <a:pt x="129" y="198"/>
                    <a:pt x="129" y="198"/>
                  </a:cubicBezTo>
                  <a:cubicBezTo>
                    <a:pt x="121" y="199"/>
                    <a:pt x="113" y="199"/>
                    <a:pt x="105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86" y="216"/>
                    <a:pt x="86" y="216"/>
                    <a:pt x="86" y="216"/>
                  </a:cubicBezTo>
                  <a:cubicBezTo>
                    <a:pt x="84" y="216"/>
                    <a:pt x="84" y="216"/>
                    <a:pt x="84" y="216"/>
                  </a:cubicBezTo>
                  <a:cubicBezTo>
                    <a:pt x="81" y="215"/>
                    <a:pt x="79" y="214"/>
                    <a:pt x="77" y="213"/>
                  </a:cubicBezTo>
                  <a:cubicBezTo>
                    <a:pt x="75" y="213"/>
                    <a:pt x="73" y="212"/>
                    <a:pt x="71" y="211"/>
                  </a:cubicBezTo>
                  <a:cubicBezTo>
                    <a:pt x="68" y="210"/>
                    <a:pt x="68" y="210"/>
                    <a:pt x="68" y="210"/>
                  </a:cubicBezTo>
                  <a:cubicBezTo>
                    <a:pt x="69" y="185"/>
                    <a:pt x="69" y="185"/>
                    <a:pt x="69" y="185"/>
                  </a:cubicBezTo>
                  <a:cubicBezTo>
                    <a:pt x="66" y="184"/>
                    <a:pt x="66" y="184"/>
                    <a:pt x="66" y="184"/>
                  </a:cubicBezTo>
                  <a:cubicBezTo>
                    <a:pt x="60" y="179"/>
                    <a:pt x="54" y="173"/>
                    <a:pt x="49" y="167"/>
                  </a:cubicBezTo>
                  <a:cubicBezTo>
                    <a:pt x="47" y="164"/>
                    <a:pt x="47" y="164"/>
                    <a:pt x="47" y="164"/>
                  </a:cubicBezTo>
                  <a:cubicBezTo>
                    <a:pt x="23" y="166"/>
                    <a:pt x="23" y="166"/>
                    <a:pt x="23" y="166"/>
                  </a:cubicBezTo>
                  <a:cubicBezTo>
                    <a:pt x="21" y="164"/>
                    <a:pt x="21" y="164"/>
                    <a:pt x="21" y="164"/>
                  </a:cubicBezTo>
                  <a:cubicBezTo>
                    <a:pt x="19" y="160"/>
                    <a:pt x="17" y="156"/>
                    <a:pt x="16" y="152"/>
                  </a:cubicBezTo>
                  <a:cubicBezTo>
                    <a:pt x="15" y="149"/>
                    <a:pt x="15" y="149"/>
                    <a:pt x="15" y="149"/>
                  </a:cubicBezTo>
                  <a:cubicBezTo>
                    <a:pt x="33" y="132"/>
                    <a:pt x="33" y="132"/>
                    <a:pt x="33" y="132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1" y="121"/>
                    <a:pt x="30" y="113"/>
                    <a:pt x="31" y="105"/>
                  </a:cubicBezTo>
                  <a:cubicBezTo>
                    <a:pt x="32" y="102"/>
                    <a:pt x="32" y="102"/>
                    <a:pt x="32" y="102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15" y="81"/>
                    <a:pt x="15" y="79"/>
                    <a:pt x="16" y="77"/>
                  </a:cubicBezTo>
                  <a:cubicBezTo>
                    <a:pt x="17" y="75"/>
                    <a:pt x="18" y="73"/>
                    <a:pt x="19" y="71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51" y="60"/>
                    <a:pt x="56" y="54"/>
                    <a:pt x="63" y="49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3" y="23"/>
                    <a:pt x="63" y="23"/>
                    <a:pt x="63" y="23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70" y="19"/>
                    <a:pt x="74" y="17"/>
                    <a:pt x="78" y="16"/>
                  </a:cubicBezTo>
                  <a:cubicBezTo>
                    <a:pt x="81" y="15"/>
                    <a:pt x="81" y="15"/>
                    <a:pt x="81" y="15"/>
                  </a:cubicBezTo>
                  <a:cubicBezTo>
                    <a:pt x="97" y="32"/>
                    <a:pt x="97" y="32"/>
                    <a:pt x="97" y="32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9" y="31"/>
                    <a:pt x="117" y="30"/>
                    <a:pt x="125" y="31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44" y="13"/>
                    <a:pt x="144" y="13"/>
                    <a:pt x="144" y="13"/>
                  </a:cubicBezTo>
                  <a:cubicBezTo>
                    <a:pt x="146" y="14"/>
                    <a:pt x="146" y="14"/>
                    <a:pt x="146" y="14"/>
                  </a:cubicBezTo>
                  <a:cubicBezTo>
                    <a:pt x="148" y="14"/>
                    <a:pt x="150" y="15"/>
                    <a:pt x="153" y="16"/>
                  </a:cubicBezTo>
                  <a:cubicBezTo>
                    <a:pt x="155" y="17"/>
                    <a:pt x="157" y="18"/>
                    <a:pt x="159" y="19"/>
                  </a:cubicBezTo>
                  <a:cubicBezTo>
                    <a:pt x="161" y="20"/>
                    <a:pt x="161" y="20"/>
                    <a:pt x="161" y="20"/>
                  </a:cubicBezTo>
                  <a:cubicBezTo>
                    <a:pt x="161" y="44"/>
                    <a:pt x="161" y="44"/>
                    <a:pt x="161" y="44"/>
                  </a:cubicBezTo>
                  <a:cubicBezTo>
                    <a:pt x="163" y="46"/>
                    <a:pt x="163" y="46"/>
                    <a:pt x="163" y="46"/>
                  </a:cubicBezTo>
                  <a:cubicBezTo>
                    <a:pt x="170" y="51"/>
                    <a:pt x="176" y="56"/>
                    <a:pt x="181" y="63"/>
                  </a:cubicBezTo>
                  <a:cubicBezTo>
                    <a:pt x="183" y="65"/>
                    <a:pt x="183" y="65"/>
                    <a:pt x="183" y="65"/>
                  </a:cubicBezTo>
                  <a:cubicBezTo>
                    <a:pt x="207" y="63"/>
                    <a:pt x="207" y="63"/>
                    <a:pt x="207" y="63"/>
                  </a:cubicBezTo>
                  <a:cubicBezTo>
                    <a:pt x="208" y="66"/>
                    <a:pt x="208" y="66"/>
                    <a:pt x="208" y="66"/>
                  </a:cubicBezTo>
                  <a:cubicBezTo>
                    <a:pt x="210" y="70"/>
                    <a:pt x="212" y="74"/>
                    <a:pt x="214" y="78"/>
                  </a:cubicBezTo>
                  <a:cubicBezTo>
                    <a:pt x="215" y="80"/>
                    <a:pt x="215" y="80"/>
                    <a:pt x="215" y="80"/>
                  </a:cubicBezTo>
                  <a:cubicBezTo>
                    <a:pt x="197" y="97"/>
                    <a:pt x="197" y="97"/>
                    <a:pt x="197" y="97"/>
                  </a:cubicBezTo>
                  <a:cubicBezTo>
                    <a:pt x="198" y="100"/>
                    <a:pt x="198" y="100"/>
                    <a:pt x="198" y="100"/>
                  </a:cubicBezTo>
                  <a:cubicBezTo>
                    <a:pt x="199" y="108"/>
                    <a:pt x="199" y="116"/>
                    <a:pt x="198" y="125"/>
                  </a:cubicBezTo>
                  <a:cubicBezTo>
                    <a:pt x="198" y="128"/>
                    <a:pt x="198" y="128"/>
                    <a:pt x="198" y="128"/>
                  </a:cubicBezTo>
                  <a:cubicBezTo>
                    <a:pt x="217" y="144"/>
                    <a:pt x="217" y="144"/>
                    <a:pt x="217" y="144"/>
                  </a:cubicBezTo>
                  <a:cubicBezTo>
                    <a:pt x="216" y="146"/>
                    <a:pt x="216" y="146"/>
                    <a:pt x="216" y="146"/>
                  </a:cubicBezTo>
                  <a:cubicBezTo>
                    <a:pt x="215" y="148"/>
                    <a:pt x="214" y="150"/>
                    <a:pt x="214" y="152"/>
                  </a:cubicBezTo>
                  <a:cubicBezTo>
                    <a:pt x="214" y="152"/>
                    <a:pt x="214" y="152"/>
                    <a:pt x="214" y="152"/>
                  </a:cubicBezTo>
                  <a:cubicBezTo>
                    <a:pt x="213" y="155"/>
                    <a:pt x="212" y="157"/>
                    <a:pt x="211" y="159"/>
                  </a:cubicBezTo>
                  <a:cubicBezTo>
                    <a:pt x="210" y="161"/>
                    <a:pt x="210" y="161"/>
                    <a:pt x="210" y="161"/>
                  </a:cubicBezTo>
                  <a:cubicBezTo>
                    <a:pt x="185" y="161"/>
                    <a:pt x="185" y="161"/>
                    <a:pt x="185" y="161"/>
                  </a:cubicBezTo>
                  <a:lnTo>
                    <a:pt x="184" y="16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79"/>
            <p:cNvSpPr>
              <a:spLocks noEditPoints="1"/>
            </p:cNvSpPr>
            <p:nvPr/>
          </p:nvSpPr>
          <p:spPr bwMode="auto">
            <a:xfrm>
              <a:off x="488" y="1719"/>
              <a:ext cx="109" cy="98"/>
            </a:xfrm>
            <a:custGeom>
              <a:avLst/>
              <a:gdLst>
                <a:gd name="T0" fmla="*/ 11 w 130"/>
                <a:gd name="T1" fmla="*/ 37 h 117"/>
                <a:gd name="T2" fmla="*/ 44 w 130"/>
                <a:gd name="T3" fmla="*/ 111 h 117"/>
                <a:gd name="T4" fmla="*/ 88 w 130"/>
                <a:gd name="T5" fmla="*/ 110 h 117"/>
                <a:gd name="T6" fmla="*/ 118 w 130"/>
                <a:gd name="T7" fmla="*/ 78 h 117"/>
                <a:gd name="T8" fmla="*/ 85 w 130"/>
                <a:gd name="T9" fmla="*/ 4 h 117"/>
                <a:gd name="T10" fmla="*/ 65 w 130"/>
                <a:gd name="T11" fmla="*/ 0 h 117"/>
                <a:gd name="T12" fmla="*/ 11 w 130"/>
                <a:gd name="T13" fmla="*/ 37 h 117"/>
                <a:gd name="T14" fmla="*/ 65 w 130"/>
                <a:gd name="T15" fmla="*/ 12 h 117"/>
                <a:gd name="T16" fmla="*/ 81 w 130"/>
                <a:gd name="T17" fmla="*/ 15 h 117"/>
                <a:gd name="T18" fmla="*/ 107 w 130"/>
                <a:gd name="T19" fmla="*/ 74 h 117"/>
                <a:gd name="T20" fmla="*/ 83 w 130"/>
                <a:gd name="T21" fmla="*/ 99 h 117"/>
                <a:gd name="T22" fmla="*/ 65 w 130"/>
                <a:gd name="T23" fmla="*/ 103 h 117"/>
                <a:gd name="T24" fmla="*/ 49 w 130"/>
                <a:gd name="T25" fmla="*/ 100 h 117"/>
                <a:gd name="T26" fmla="*/ 22 w 130"/>
                <a:gd name="T27" fmla="*/ 42 h 117"/>
                <a:gd name="T28" fmla="*/ 65 w 130"/>
                <a:gd name="T29" fmla="*/ 1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117">
                  <a:moveTo>
                    <a:pt x="11" y="37"/>
                  </a:moveTo>
                  <a:cubicBezTo>
                    <a:pt x="0" y="67"/>
                    <a:pt x="15" y="100"/>
                    <a:pt x="44" y="111"/>
                  </a:cubicBezTo>
                  <a:cubicBezTo>
                    <a:pt x="59" y="117"/>
                    <a:pt x="74" y="116"/>
                    <a:pt x="88" y="110"/>
                  </a:cubicBezTo>
                  <a:cubicBezTo>
                    <a:pt x="102" y="104"/>
                    <a:pt x="113" y="93"/>
                    <a:pt x="118" y="78"/>
                  </a:cubicBezTo>
                  <a:cubicBezTo>
                    <a:pt x="130" y="49"/>
                    <a:pt x="115" y="15"/>
                    <a:pt x="85" y="4"/>
                  </a:cubicBezTo>
                  <a:cubicBezTo>
                    <a:pt x="79" y="2"/>
                    <a:pt x="72" y="0"/>
                    <a:pt x="65" y="0"/>
                  </a:cubicBezTo>
                  <a:cubicBezTo>
                    <a:pt x="42" y="0"/>
                    <a:pt x="20" y="14"/>
                    <a:pt x="11" y="37"/>
                  </a:cubicBezTo>
                  <a:close/>
                  <a:moveTo>
                    <a:pt x="65" y="12"/>
                  </a:moveTo>
                  <a:cubicBezTo>
                    <a:pt x="70" y="12"/>
                    <a:pt x="76" y="13"/>
                    <a:pt x="81" y="15"/>
                  </a:cubicBezTo>
                  <a:cubicBezTo>
                    <a:pt x="104" y="24"/>
                    <a:pt x="116" y="51"/>
                    <a:pt x="107" y="74"/>
                  </a:cubicBezTo>
                  <a:cubicBezTo>
                    <a:pt x="103" y="85"/>
                    <a:pt x="94" y="94"/>
                    <a:pt x="83" y="99"/>
                  </a:cubicBezTo>
                  <a:cubicBezTo>
                    <a:pt x="77" y="102"/>
                    <a:pt x="71" y="103"/>
                    <a:pt x="65" y="103"/>
                  </a:cubicBezTo>
                  <a:cubicBezTo>
                    <a:pt x="59" y="103"/>
                    <a:pt x="54" y="102"/>
                    <a:pt x="49" y="100"/>
                  </a:cubicBezTo>
                  <a:cubicBezTo>
                    <a:pt x="25" y="91"/>
                    <a:pt x="14" y="65"/>
                    <a:pt x="22" y="42"/>
                  </a:cubicBezTo>
                  <a:cubicBezTo>
                    <a:pt x="29" y="24"/>
                    <a:pt x="46" y="12"/>
                    <a:pt x="65" y="1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80"/>
            <p:cNvSpPr>
              <a:spLocks/>
            </p:cNvSpPr>
            <p:nvPr/>
          </p:nvSpPr>
          <p:spPr bwMode="auto">
            <a:xfrm>
              <a:off x="423" y="1458"/>
              <a:ext cx="24" cy="10"/>
            </a:xfrm>
            <a:custGeom>
              <a:avLst/>
              <a:gdLst>
                <a:gd name="T0" fmla="*/ 22 w 28"/>
                <a:gd name="T1" fmla="*/ 12 h 12"/>
                <a:gd name="T2" fmla="*/ 28 w 28"/>
                <a:gd name="T3" fmla="*/ 6 h 12"/>
                <a:gd name="T4" fmla="*/ 22 w 28"/>
                <a:gd name="T5" fmla="*/ 0 h 12"/>
                <a:gd name="T6" fmla="*/ 6 w 28"/>
                <a:gd name="T7" fmla="*/ 0 h 12"/>
                <a:gd name="T8" fmla="*/ 0 w 28"/>
                <a:gd name="T9" fmla="*/ 6 h 12"/>
                <a:gd name="T10" fmla="*/ 6 w 28"/>
                <a:gd name="T11" fmla="*/ 12 h 12"/>
                <a:gd name="T12" fmla="*/ 22 w 2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2">
                  <a:moveTo>
                    <a:pt x="22" y="12"/>
                  </a:moveTo>
                  <a:cubicBezTo>
                    <a:pt x="25" y="12"/>
                    <a:pt x="28" y="9"/>
                    <a:pt x="28" y="6"/>
                  </a:cubicBezTo>
                  <a:cubicBezTo>
                    <a:pt x="28" y="2"/>
                    <a:pt x="25" y="0"/>
                    <a:pt x="2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lnTo>
                    <a:pt x="22" y="1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81"/>
            <p:cNvSpPr>
              <a:spLocks/>
            </p:cNvSpPr>
            <p:nvPr/>
          </p:nvSpPr>
          <p:spPr bwMode="auto">
            <a:xfrm>
              <a:off x="423" y="1562"/>
              <a:ext cx="24" cy="10"/>
            </a:xfrm>
            <a:custGeom>
              <a:avLst/>
              <a:gdLst>
                <a:gd name="T0" fmla="*/ 22 w 28"/>
                <a:gd name="T1" fmla="*/ 12 h 12"/>
                <a:gd name="T2" fmla="*/ 28 w 28"/>
                <a:gd name="T3" fmla="*/ 6 h 12"/>
                <a:gd name="T4" fmla="*/ 22 w 28"/>
                <a:gd name="T5" fmla="*/ 0 h 12"/>
                <a:gd name="T6" fmla="*/ 6 w 28"/>
                <a:gd name="T7" fmla="*/ 0 h 12"/>
                <a:gd name="T8" fmla="*/ 0 w 28"/>
                <a:gd name="T9" fmla="*/ 6 h 12"/>
                <a:gd name="T10" fmla="*/ 6 w 28"/>
                <a:gd name="T11" fmla="*/ 12 h 12"/>
                <a:gd name="T12" fmla="*/ 22 w 2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2">
                  <a:moveTo>
                    <a:pt x="22" y="12"/>
                  </a:moveTo>
                  <a:cubicBezTo>
                    <a:pt x="25" y="12"/>
                    <a:pt x="28" y="10"/>
                    <a:pt x="28" y="6"/>
                  </a:cubicBezTo>
                  <a:cubicBezTo>
                    <a:pt x="28" y="3"/>
                    <a:pt x="25" y="0"/>
                    <a:pt x="2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0"/>
                    <a:pt x="2" y="12"/>
                    <a:pt x="6" y="12"/>
                  </a:cubicBezTo>
                  <a:lnTo>
                    <a:pt x="22" y="1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82"/>
            <p:cNvSpPr>
              <a:spLocks/>
            </p:cNvSpPr>
            <p:nvPr/>
          </p:nvSpPr>
          <p:spPr bwMode="auto">
            <a:xfrm>
              <a:off x="453" y="1511"/>
              <a:ext cx="24" cy="10"/>
            </a:xfrm>
            <a:custGeom>
              <a:avLst/>
              <a:gdLst>
                <a:gd name="T0" fmla="*/ 22 w 28"/>
                <a:gd name="T1" fmla="*/ 12 h 12"/>
                <a:gd name="T2" fmla="*/ 28 w 28"/>
                <a:gd name="T3" fmla="*/ 6 h 12"/>
                <a:gd name="T4" fmla="*/ 22 w 28"/>
                <a:gd name="T5" fmla="*/ 0 h 12"/>
                <a:gd name="T6" fmla="*/ 6 w 28"/>
                <a:gd name="T7" fmla="*/ 0 h 12"/>
                <a:gd name="T8" fmla="*/ 0 w 28"/>
                <a:gd name="T9" fmla="*/ 6 h 12"/>
                <a:gd name="T10" fmla="*/ 6 w 28"/>
                <a:gd name="T11" fmla="*/ 12 h 12"/>
                <a:gd name="T12" fmla="*/ 22 w 2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2">
                  <a:moveTo>
                    <a:pt x="22" y="12"/>
                  </a:moveTo>
                  <a:cubicBezTo>
                    <a:pt x="25" y="12"/>
                    <a:pt x="28" y="10"/>
                    <a:pt x="28" y="6"/>
                  </a:cubicBezTo>
                  <a:cubicBezTo>
                    <a:pt x="28" y="3"/>
                    <a:pt x="25" y="0"/>
                    <a:pt x="2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lnTo>
                    <a:pt x="22" y="1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183"/>
            <p:cNvSpPr>
              <a:spLocks noChangeArrowheads="1"/>
            </p:cNvSpPr>
            <p:nvPr/>
          </p:nvSpPr>
          <p:spPr bwMode="auto">
            <a:xfrm>
              <a:off x="926" y="1664"/>
              <a:ext cx="14" cy="1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4" name="Group 111"/>
          <p:cNvGrpSpPr/>
          <p:nvPr/>
        </p:nvGrpSpPr>
        <p:grpSpPr>
          <a:xfrm>
            <a:off x="113764" y="4399955"/>
            <a:ext cx="798114" cy="700216"/>
            <a:chOff x="550972" y="2464122"/>
            <a:chExt cx="1216070" cy="1066905"/>
          </a:xfrm>
        </p:grpSpPr>
        <p:sp>
          <p:nvSpPr>
            <p:cNvPr id="115" name="Freeform 1028"/>
            <p:cNvSpPr>
              <a:spLocks/>
            </p:cNvSpPr>
            <p:nvPr/>
          </p:nvSpPr>
          <p:spPr bwMode="auto">
            <a:xfrm>
              <a:off x="846773" y="2464122"/>
              <a:ext cx="647222" cy="1066905"/>
            </a:xfrm>
            <a:custGeom>
              <a:avLst/>
              <a:gdLst>
                <a:gd name="T0" fmla="*/ 267 w 307"/>
                <a:gd name="T1" fmla="*/ 505 h 505"/>
                <a:gd name="T2" fmla="*/ 41 w 307"/>
                <a:gd name="T3" fmla="*/ 505 h 505"/>
                <a:gd name="T4" fmla="*/ 0 w 307"/>
                <a:gd name="T5" fmla="*/ 465 h 505"/>
                <a:gd name="T6" fmla="*/ 0 w 307"/>
                <a:gd name="T7" fmla="*/ 43 h 505"/>
                <a:gd name="T8" fmla="*/ 43 w 307"/>
                <a:gd name="T9" fmla="*/ 0 h 505"/>
                <a:gd name="T10" fmla="*/ 265 w 307"/>
                <a:gd name="T11" fmla="*/ 0 h 505"/>
                <a:gd name="T12" fmla="*/ 307 w 307"/>
                <a:gd name="T13" fmla="*/ 43 h 505"/>
                <a:gd name="T14" fmla="*/ 307 w 307"/>
                <a:gd name="T15" fmla="*/ 133 h 505"/>
                <a:gd name="T16" fmla="*/ 295 w 307"/>
                <a:gd name="T17" fmla="*/ 133 h 505"/>
                <a:gd name="T18" fmla="*/ 295 w 307"/>
                <a:gd name="T19" fmla="*/ 43 h 505"/>
                <a:gd name="T20" fmla="*/ 265 w 307"/>
                <a:gd name="T21" fmla="*/ 12 h 505"/>
                <a:gd name="T22" fmla="*/ 43 w 307"/>
                <a:gd name="T23" fmla="*/ 12 h 505"/>
                <a:gd name="T24" fmla="*/ 13 w 307"/>
                <a:gd name="T25" fmla="*/ 43 h 505"/>
                <a:gd name="T26" fmla="*/ 13 w 307"/>
                <a:gd name="T27" fmla="*/ 465 h 505"/>
                <a:gd name="T28" fmla="*/ 41 w 307"/>
                <a:gd name="T29" fmla="*/ 493 h 505"/>
                <a:gd name="T30" fmla="*/ 267 w 307"/>
                <a:gd name="T31" fmla="*/ 493 h 505"/>
                <a:gd name="T32" fmla="*/ 295 w 307"/>
                <a:gd name="T33" fmla="*/ 465 h 505"/>
                <a:gd name="T34" fmla="*/ 295 w 307"/>
                <a:gd name="T35" fmla="*/ 356 h 505"/>
                <a:gd name="T36" fmla="*/ 307 w 307"/>
                <a:gd name="T37" fmla="*/ 356 h 505"/>
                <a:gd name="T38" fmla="*/ 307 w 307"/>
                <a:gd name="T39" fmla="*/ 465 h 505"/>
                <a:gd name="T40" fmla="*/ 267 w 307"/>
                <a:gd name="T41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7" h="505">
                  <a:moveTo>
                    <a:pt x="267" y="505"/>
                  </a:moveTo>
                  <a:cubicBezTo>
                    <a:pt x="41" y="505"/>
                    <a:pt x="41" y="505"/>
                    <a:pt x="41" y="505"/>
                  </a:cubicBezTo>
                  <a:cubicBezTo>
                    <a:pt x="19" y="505"/>
                    <a:pt x="0" y="487"/>
                    <a:pt x="0" y="465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19"/>
                    <a:pt x="19" y="0"/>
                    <a:pt x="43" y="0"/>
                  </a:cubicBezTo>
                  <a:cubicBezTo>
                    <a:pt x="265" y="0"/>
                    <a:pt x="265" y="0"/>
                    <a:pt x="265" y="0"/>
                  </a:cubicBezTo>
                  <a:cubicBezTo>
                    <a:pt x="288" y="0"/>
                    <a:pt x="307" y="19"/>
                    <a:pt x="307" y="43"/>
                  </a:cubicBezTo>
                  <a:cubicBezTo>
                    <a:pt x="307" y="133"/>
                    <a:pt x="307" y="133"/>
                    <a:pt x="307" y="133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295" y="43"/>
                    <a:pt x="295" y="43"/>
                    <a:pt x="295" y="43"/>
                  </a:cubicBezTo>
                  <a:cubicBezTo>
                    <a:pt x="295" y="26"/>
                    <a:pt x="281" y="12"/>
                    <a:pt x="265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26" y="12"/>
                    <a:pt x="13" y="26"/>
                    <a:pt x="13" y="43"/>
                  </a:cubicBezTo>
                  <a:cubicBezTo>
                    <a:pt x="13" y="465"/>
                    <a:pt x="13" y="465"/>
                    <a:pt x="13" y="465"/>
                  </a:cubicBezTo>
                  <a:cubicBezTo>
                    <a:pt x="13" y="480"/>
                    <a:pt x="25" y="493"/>
                    <a:pt x="41" y="493"/>
                  </a:cubicBezTo>
                  <a:cubicBezTo>
                    <a:pt x="267" y="493"/>
                    <a:pt x="267" y="493"/>
                    <a:pt x="267" y="493"/>
                  </a:cubicBezTo>
                  <a:cubicBezTo>
                    <a:pt x="282" y="493"/>
                    <a:pt x="295" y="480"/>
                    <a:pt x="295" y="465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07" y="356"/>
                    <a:pt x="307" y="356"/>
                    <a:pt x="307" y="356"/>
                  </a:cubicBezTo>
                  <a:cubicBezTo>
                    <a:pt x="307" y="465"/>
                    <a:pt x="307" y="465"/>
                    <a:pt x="307" y="465"/>
                  </a:cubicBezTo>
                  <a:cubicBezTo>
                    <a:pt x="307" y="487"/>
                    <a:pt x="289" y="505"/>
                    <a:pt x="267" y="505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6" name="Rectangle 1029"/>
            <p:cNvSpPr>
              <a:spLocks noChangeArrowheads="1"/>
            </p:cNvSpPr>
            <p:nvPr/>
          </p:nvSpPr>
          <p:spPr bwMode="auto">
            <a:xfrm>
              <a:off x="861943" y="2610758"/>
              <a:ext cx="619412" cy="2528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" name="Freeform 1030"/>
            <p:cNvSpPr>
              <a:spLocks noEditPoints="1"/>
            </p:cNvSpPr>
            <p:nvPr/>
          </p:nvSpPr>
          <p:spPr bwMode="auto">
            <a:xfrm>
              <a:off x="1124877" y="2737169"/>
              <a:ext cx="642165" cy="490473"/>
            </a:xfrm>
            <a:custGeom>
              <a:avLst/>
              <a:gdLst>
                <a:gd name="T0" fmla="*/ 254 w 254"/>
                <a:gd name="T1" fmla="*/ 194 h 194"/>
                <a:gd name="T2" fmla="*/ 0 w 254"/>
                <a:gd name="T3" fmla="*/ 194 h 194"/>
                <a:gd name="T4" fmla="*/ 0 w 254"/>
                <a:gd name="T5" fmla="*/ 0 h 194"/>
                <a:gd name="T6" fmla="*/ 254 w 254"/>
                <a:gd name="T7" fmla="*/ 0 h 194"/>
                <a:gd name="T8" fmla="*/ 254 w 254"/>
                <a:gd name="T9" fmla="*/ 194 h 194"/>
                <a:gd name="T10" fmla="*/ 10 w 254"/>
                <a:gd name="T11" fmla="*/ 184 h 194"/>
                <a:gd name="T12" fmla="*/ 244 w 254"/>
                <a:gd name="T13" fmla="*/ 184 h 194"/>
                <a:gd name="T14" fmla="*/ 244 w 254"/>
                <a:gd name="T15" fmla="*/ 10 h 194"/>
                <a:gd name="T16" fmla="*/ 10 w 254"/>
                <a:gd name="T17" fmla="*/ 10 h 194"/>
                <a:gd name="T18" fmla="*/ 10 w 254"/>
                <a:gd name="T19" fmla="*/ 18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4" h="194">
                  <a:moveTo>
                    <a:pt x="254" y="194"/>
                  </a:moveTo>
                  <a:lnTo>
                    <a:pt x="0" y="194"/>
                  </a:lnTo>
                  <a:lnTo>
                    <a:pt x="0" y="0"/>
                  </a:lnTo>
                  <a:lnTo>
                    <a:pt x="254" y="0"/>
                  </a:lnTo>
                  <a:lnTo>
                    <a:pt x="254" y="194"/>
                  </a:lnTo>
                  <a:close/>
                  <a:moveTo>
                    <a:pt x="10" y="184"/>
                  </a:moveTo>
                  <a:lnTo>
                    <a:pt x="244" y="184"/>
                  </a:lnTo>
                  <a:lnTo>
                    <a:pt x="244" y="10"/>
                  </a:lnTo>
                  <a:lnTo>
                    <a:pt x="10" y="10"/>
                  </a:lnTo>
                  <a:lnTo>
                    <a:pt x="10" y="184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1031"/>
            <p:cNvSpPr>
              <a:spLocks/>
            </p:cNvSpPr>
            <p:nvPr/>
          </p:nvSpPr>
          <p:spPr bwMode="auto">
            <a:xfrm>
              <a:off x="1132460" y="2828184"/>
              <a:ext cx="230068" cy="305914"/>
            </a:xfrm>
            <a:custGeom>
              <a:avLst/>
              <a:gdLst>
                <a:gd name="T0" fmla="*/ 36 w 108"/>
                <a:gd name="T1" fmla="*/ 145 h 145"/>
                <a:gd name="T2" fmla="*/ 0 w 108"/>
                <a:gd name="T3" fmla="*/ 135 h 145"/>
                <a:gd name="T4" fmla="*/ 7 w 108"/>
                <a:gd name="T5" fmla="*/ 125 h 145"/>
                <a:gd name="T6" fmla="*/ 36 w 108"/>
                <a:gd name="T7" fmla="*/ 133 h 145"/>
                <a:gd name="T8" fmla="*/ 96 w 108"/>
                <a:gd name="T9" fmla="*/ 73 h 145"/>
                <a:gd name="T10" fmla="*/ 36 w 108"/>
                <a:gd name="T11" fmla="*/ 13 h 145"/>
                <a:gd name="T12" fmla="*/ 6 w 108"/>
                <a:gd name="T13" fmla="*/ 21 h 145"/>
                <a:gd name="T14" fmla="*/ 0 w 108"/>
                <a:gd name="T15" fmla="*/ 10 h 145"/>
                <a:gd name="T16" fmla="*/ 36 w 108"/>
                <a:gd name="T17" fmla="*/ 0 h 145"/>
                <a:gd name="T18" fmla="*/ 108 w 108"/>
                <a:gd name="T19" fmla="*/ 73 h 145"/>
                <a:gd name="T20" fmla="*/ 36 w 108"/>
                <a:gd name="T21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45">
                  <a:moveTo>
                    <a:pt x="36" y="145"/>
                  </a:moveTo>
                  <a:cubicBezTo>
                    <a:pt x="24" y="145"/>
                    <a:pt x="11" y="142"/>
                    <a:pt x="0" y="135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15" y="130"/>
                    <a:pt x="26" y="133"/>
                    <a:pt x="36" y="133"/>
                  </a:cubicBezTo>
                  <a:cubicBezTo>
                    <a:pt x="69" y="133"/>
                    <a:pt x="96" y="106"/>
                    <a:pt x="96" y="73"/>
                  </a:cubicBezTo>
                  <a:cubicBezTo>
                    <a:pt x="96" y="40"/>
                    <a:pt x="69" y="13"/>
                    <a:pt x="36" y="13"/>
                  </a:cubicBezTo>
                  <a:cubicBezTo>
                    <a:pt x="26" y="13"/>
                    <a:pt x="15" y="16"/>
                    <a:pt x="6" y="2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1" y="4"/>
                    <a:pt x="23" y="0"/>
                    <a:pt x="36" y="0"/>
                  </a:cubicBezTo>
                  <a:cubicBezTo>
                    <a:pt x="76" y="0"/>
                    <a:pt x="108" y="33"/>
                    <a:pt x="108" y="73"/>
                  </a:cubicBezTo>
                  <a:cubicBezTo>
                    <a:pt x="108" y="113"/>
                    <a:pt x="76" y="145"/>
                    <a:pt x="36" y="145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1032"/>
            <p:cNvSpPr>
              <a:spLocks noEditPoints="1"/>
            </p:cNvSpPr>
            <p:nvPr/>
          </p:nvSpPr>
          <p:spPr bwMode="auto">
            <a:xfrm>
              <a:off x="1425733" y="2926785"/>
              <a:ext cx="111241" cy="111241"/>
            </a:xfrm>
            <a:custGeom>
              <a:avLst/>
              <a:gdLst>
                <a:gd name="T0" fmla="*/ 27 w 53"/>
                <a:gd name="T1" fmla="*/ 53 h 53"/>
                <a:gd name="T2" fmla="*/ 0 w 53"/>
                <a:gd name="T3" fmla="*/ 27 h 53"/>
                <a:gd name="T4" fmla="*/ 27 w 53"/>
                <a:gd name="T5" fmla="*/ 0 h 53"/>
                <a:gd name="T6" fmla="*/ 53 w 53"/>
                <a:gd name="T7" fmla="*/ 27 h 53"/>
                <a:gd name="T8" fmla="*/ 27 w 53"/>
                <a:gd name="T9" fmla="*/ 53 h 53"/>
                <a:gd name="T10" fmla="*/ 27 w 53"/>
                <a:gd name="T11" fmla="*/ 13 h 53"/>
                <a:gd name="T12" fmla="*/ 13 w 53"/>
                <a:gd name="T13" fmla="*/ 27 h 53"/>
                <a:gd name="T14" fmla="*/ 27 w 53"/>
                <a:gd name="T15" fmla="*/ 41 h 53"/>
                <a:gd name="T16" fmla="*/ 41 w 53"/>
                <a:gd name="T17" fmla="*/ 27 h 53"/>
                <a:gd name="T18" fmla="*/ 27 w 53"/>
                <a:gd name="T19" fmla="*/ 1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53">
                  <a:moveTo>
                    <a:pt x="27" y="53"/>
                  </a:move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cubicBezTo>
                    <a:pt x="53" y="41"/>
                    <a:pt x="41" y="53"/>
                    <a:pt x="27" y="53"/>
                  </a:cubicBezTo>
                  <a:close/>
                  <a:moveTo>
                    <a:pt x="27" y="13"/>
                  </a:moveTo>
                  <a:cubicBezTo>
                    <a:pt x="19" y="13"/>
                    <a:pt x="13" y="19"/>
                    <a:pt x="13" y="27"/>
                  </a:cubicBezTo>
                  <a:cubicBezTo>
                    <a:pt x="13" y="34"/>
                    <a:pt x="19" y="41"/>
                    <a:pt x="27" y="41"/>
                  </a:cubicBezTo>
                  <a:cubicBezTo>
                    <a:pt x="34" y="41"/>
                    <a:pt x="41" y="34"/>
                    <a:pt x="41" y="27"/>
                  </a:cubicBezTo>
                  <a:cubicBezTo>
                    <a:pt x="41" y="19"/>
                    <a:pt x="34" y="13"/>
                    <a:pt x="27" y="13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1033"/>
            <p:cNvSpPr>
              <a:spLocks/>
            </p:cNvSpPr>
            <p:nvPr/>
          </p:nvSpPr>
          <p:spPr bwMode="auto">
            <a:xfrm>
              <a:off x="1314492" y="2782677"/>
              <a:ext cx="404514" cy="399457"/>
            </a:xfrm>
            <a:custGeom>
              <a:avLst/>
              <a:gdLst>
                <a:gd name="T0" fmla="*/ 125 w 192"/>
                <a:gd name="T1" fmla="*/ 189 h 189"/>
                <a:gd name="T2" fmla="*/ 0 w 192"/>
                <a:gd name="T3" fmla="*/ 189 h 189"/>
                <a:gd name="T4" fmla="*/ 0 w 192"/>
                <a:gd name="T5" fmla="*/ 177 h 189"/>
                <a:gd name="T6" fmla="*/ 113 w 192"/>
                <a:gd name="T7" fmla="*/ 177 h 189"/>
                <a:gd name="T8" fmla="*/ 180 w 192"/>
                <a:gd name="T9" fmla="*/ 110 h 189"/>
                <a:gd name="T10" fmla="*/ 180 w 192"/>
                <a:gd name="T11" fmla="*/ 79 h 189"/>
                <a:gd name="T12" fmla="*/ 113 w 192"/>
                <a:gd name="T13" fmla="*/ 13 h 189"/>
                <a:gd name="T14" fmla="*/ 0 w 192"/>
                <a:gd name="T15" fmla="*/ 13 h 189"/>
                <a:gd name="T16" fmla="*/ 0 w 192"/>
                <a:gd name="T17" fmla="*/ 0 h 189"/>
                <a:gd name="T18" fmla="*/ 125 w 192"/>
                <a:gd name="T19" fmla="*/ 0 h 189"/>
                <a:gd name="T20" fmla="*/ 125 w 192"/>
                <a:gd name="T21" fmla="*/ 7 h 189"/>
                <a:gd name="T22" fmla="*/ 186 w 192"/>
                <a:gd name="T23" fmla="*/ 67 h 189"/>
                <a:gd name="T24" fmla="*/ 192 w 192"/>
                <a:gd name="T25" fmla="*/ 67 h 189"/>
                <a:gd name="T26" fmla="*/ 192 w 192"/>
                <a:gd name="T27" fmla="*/ 122 h 189"/>
                <a:gd name="T28" fmla="*/ 186 w 192"/>
                <a:gd name="T29" fmla="*/ 122 h 189"/>
                <a:gd name="T30" fmla="*/ 125 w 192"/>
                <a:gd name="T31" fmla="*/ 183 h 189"/>
                <a:gd name="T32" fmla="*/ 125 w 192"/>
                <a:gd name="T3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2" h="189">
                  <a:moveTo>
                    <a:pt x="125" y="189"/>
                  </a:moveTo>
                  <a:cubicBezTo>
                    <a:pt x="0" y="189"/>
                    <a:pt x="0" y="189"/>
                    <a:pt x="0" y="189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6" y="141"/>
                    <a:pt x="144" y="113"/>
                    <a:pt x="180" y="110"/>
                  </a:cubicBezTo>
                  <a:cubicBezTo>
                    <a:pt x="180" y="79"/>
                    <a:pt x="180" y="79"/>
                    <a:pt x="180" y="79"/>
                  </a:cubicBezTo>
                  <a:cubicBezTo>
                    <a:pt x="144" y="77"/>
                    <a:pt x="116" y="48"/>
                    <a:pt x="113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5" y="7"/>
                    <a:pt x="125" y="7"/>
                    <a:pt x="125" y="7"/>
                  </a:cubicBezTo>
                  <a:cubicBezTo>
                    <a:pt x="125" y="40"/>
                    <a:pt x="152" y="67"/>
                    <a:pt x="186" y="67"/>
                  </a:cubicBezTo>
                  <a:cubicBezTo>
                    <a:pt x="192" y="67"/>
                    <a:pt x="192" y="67"/>
                    <a:pt x="192" y="67"/>
                  </a:cubicBezTo>
                  <a:cubicBezTo>
                    <a:pt x="192" y="122"/>
                    <a:pt x="192" y="122"/>
                    <a:pt x="192" y="122"/>
                  </a:cubicBezTo>
                  <a:cubicBezTo>
                    <a:pt x="186" y="122"/>
                    <a:pt x="186" y="122"/>
                    <a:pt x="186" y="122"/>
                  </a:cubicBezTo>
                  <a:cubicBezTo>
                    <a:pt x="152" y="122"/>
                    <a:pt x="125" y="149"/>
                    <a:pt x="125" y="183"/>
                  </a:cubicBezTo>
                  <a:lnTo>
                    <a:pt x="125" y="189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Rectangle 1034"/>
            <p:cNvSpPr>
              <a:spLocks noChangeArrowheads="1"/>
            </p:cNvSpPr>
            <p:nvPr/>
          </p:nvSpPr>
          <p:spPr bwMode="auto">
            <a:xfrm>
              <a:off x="861943" y="3328770"/>
              <a:ext cx="619412" cy="2781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Rectangle 1035"/>
            <p:cNvSpPr>
              <a:spLocks noChangeArrowheads="1"/>
            </p:cNvSpPr>
            <p:nvPr/>
          </p:nvSpPr>
          <p:spPr bwMode="auto">
            <a:xfrm>
              <a:off x="1054087" y="2542497"/>
              <a:ext cx="235124" cy="2781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Freeform 1036"/>
            <p:cNvSpPr>
              <a:spLocks noEditPoints="1"/>
            </p:cNvSpPr>
            <p:nvPr/>
          </p:nvSpPr>
          <p:spPr bwMode="auto">
            <a:xfrm>
              <a:off x="1107178" y="3366694"/>
              <a:ext cx="126411" cy="126411"/>
            </a:xfrm>
            <a:custGeom>
              <a:avLst/>
              <a:gdLst>
                <a:gd name="T0" fmla="*/ 31 w 61"/>
                <a:gd name="T1" fmla="*/ 61 h 61"/>
                <a:gd name="T2" fmla="*/ 0 w 61"/>
                <a:gd name="T3" fmla="*/ 31 h 61"/>
                <a:gd name="T4" fmla="*/ 31 w 61"/>
                <a:gd name="T5" fmla="*/ 0 h 61"/>
                <a:gd name="T6" fmla="*/ 61 w 61"/>
                <a:gd name="T7" fmla="*/ 31 h 61"/>
                <a:gd name="T8" fmla="*/ 31 w 61"/>
                <a:gd name="T9" fmla="*/ 61 h 61"/>
                <a:gd name="T10" fmla="*/ 31 w 61"/>
                <a:gd name="T11" fmla="*/ 12 h 61"/>
                <a:gd name="T12" fmla="*/ 13 w 61"/>
                <a:gd name="T13" fmla="*/ 31 h 61"/>
                <a:gd name="T14" fmla="*/ 31 w 61"/>
                <a:gd name="T15" fmla="*/ 49 h 61"/>
                <a:gd name="T16" fmla="*/ 49 w 61"/>
                <a:gd name="T17" fmla="*/ 31 h 61"/>
                <a:gd name="T18" fmla="*/ 31 w 61"/>
                <a:gd name="T19" fmla="*/ 1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1">
                  <a:moveTo>
                    <a:pt x="31" y="61"/>
                  </a:moveTo>
                  <a:cubicBezTo>
                    <a:pt x="14" y="61"/>
                    <a:pt x="0" y="48"/>
                    <a:pt x="0" y="31"/>
                  </a:cubicBezTo>
                  <a:cubicBezTo>
                    <a:pt x="0" y="14"/>
                    <a:pt x="14" y="0"/>
                    <a:pt x="31" y="0"/>
                  </a:cubicBezTo>
                  <a:cubicBezTo>
                    <a:pt x="48" y="0"/>
                    <a:pt x="61" y="14"/>
                    <a:pt x="61" y="31"/>
                  </a:cubicBezTo>
                  <a:cubicBezTo>
                    <a:pt x="61" y="48"/>
                    <a:pt x="48" y="61"/>
                    <a:pt x="31" y="61"/>
                  </a:cubicBezTo>
                  <a:close/>
                  <a:moveTo>
                    <a:pt x="31" y="12"/>
                  </a:moveTo>
                  <a:cubicBezTo>
                    <a:pt x="21" y="12"/>
                    <a:pt x="13" y="21"/>
                    <a:pt x="13" y="31"/>
                  </a:cubicBezTo>
                  <a:cubicBezTo>
                    <a:pt x="13" y="41"/>
                    <a:pt x="21" y="49"/>
                    <a:pt x="31" y="49"/>
                  </a:cubicBezTo>
                  <a:cubicBezTo>
                    <a:pt x="41" y="49"/>
                    <a:pt x="49" y="41"/>
                    <a:pt x="49" y="31"/>
                  </a:cubicBezTo>
                  <a:cubicBezTo>
                    <a:pt x="49" y="21"/>
                    <a:pt x="41" y="12"/>
                    <a:pt x="31" y="1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1037"/>
            <p:cNvSpPr>
              <a:spLocks/>
            </p:cNvSpPr>
            <p:nvPr/>
          </p:nvSpPr>
          <p:spPr bwMode="auto">
            <a:xfrm>
              <a:off x="932733" y="2866108"/>
              <a:ext cx="146636" cy="245237"/>
            </a:xfrm>
            <a:custGeom>
              <a:avLst/>
              <a:gdLst>
                <a:gd name="T0" fmla="*/ 18 w 58"/>
                <a:gd name="T1" fmla="*/ 97 h 97"/>
                <a:gd name="T2" fmla="*/ 10 w 58"/>
                <a:gd name="T3" fmla="*/ 90 h 97"/>
                <a:gd name="T4" fmla="*/ 40 w 58"/>
                <a:gd name="T5" fmla="*/ 60 h 97"/>
                <a:gd name="T6" fmla="*/ 0 w 58"/>
                <a:gd name="T7" fmla="*/ 40 h 97"/>
                <a:gd name="T8" fmla="*/ 43 w 58"/>
                <a:gd name="T9" fmla="*/ 0 h 97"/>
                <a:gd name="T10" fmla="*/ 49 w 58"/>
                <a:gd name="T11" fmla="*/ 7 h 97"/>
                <a:gd name="T12" fmla="*/ 18 w 58"/>
                <a:gd name="T13" fmla="*/ 38 h 97"/>
                <a:gd name="T14" fmla="*/ 58 w 58"/>
                <a:gd name="T15" fmla="*/ 56 h 97"/>
                <a:gd name="T16" fmla="*/ 18 w 58"/>
                <a:gd name="T17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97">
                  <a:moveTo>
                    <a:pt x="18" y="97"/>
                  </a:moveTo>
                  <a:lnTo>
                    <a:pt x="10" y="90"/>
                  </a:lnTo>
                  <a:lnTo>
                    <a:pt x="40" y="60"/>
                  </a:lnTo>
                  <a:lnTo>
                    <a:pt x="0" y="40"/>
                  </a:lnTo>
                  <a:lnTo>
                    <a:pt x="43" y="0"/>
                  </a:lnTo>
                  <a:lnTo>
                    <a:pt x="49" y="7"/>
                  </a:lnTo>
                  <a:lnTo>
                    <a:pt x="18" y="38"/>
                  </a:lnTo>
                  <a:lnTo>
                    <a:pt x="58" y="56"/>
                  </a:lnTo>
                  <a:lnTo>
                    <a:pt x="18" y="97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1038"/>
            <p:cNvSpPr>
              <a:spLocks/>
            </p:cNvSpPr>
            <p:nvPr/>
          </p:nvSpPr>
          <p:spPr bwMode="auto">
            <a:xfrm>
              <a:off x="672326" y="2648682"/>
              <a:ext cx="103657" cy="141580"/>
            </a:xfrm>
            <a:custGeom>
              <a:avLst/>
              <a:gdLst>
                <a:gd name="T0" fmla="*/ 33 w 41"/>
                <a:gd name="T1" fmla="*/ 56 h 56"/>
                <a:gd name="T2" fmla="*/ 0 w 41"/>
                <a:gd name="T3" fmla="*/ 6 h 56"/>
                <a:gd name="T4" fmla="*/ 10 w 41"/>
                <a:gd name="T5" fmla="*/ 0 h 56"/>
                <a:gd name="T6" fmla="*/ 41 w 41"/>
                <a:gd name="T7" fmla="*/ 50 h 56"/>
                <a:gd name="T8" fmla="*/ 33 w 41"/>
                <a:gd name="T9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6">
                  <a:moveTo>
                    <a:pt x="33" y="56"/>
                  </a:moveTo>
                  <a:lnTo>
                    <a:pt x="0" y="6"/>
                  </a:lnTo>
                  <a:lnTo>
                    <a:pt x="10" y="0"/>
                  </a:lnTo>
                  <a:lnTo>
                    <a:pt x="41" y="50"/>
                  </a:lnTo>
                  <a:lnTo>
                    <a:pt x="33" y="5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1039"/>
            <p:cNvSpPr>
              <a:spLocks/>
            </p:cNvSpPr>
            <p:nvPr/>
          </p:nvSpPr>
          <p:spPr bwMode="auto">
            <a:xfrm>
              <a:off x="550972" y="2848410"/>
              <a:ext cx="159278" cy="63206"/>
            </a:xfrm>
            <a:custGeom>
              <a:avLst/>
              <a:gdLst>
                <a:gd name="T0" fmla="*/ 60 w 63"/>
                <a:gd name="T1" fmla="*/ 25 h 25"/>
                <a:gd name="T2" fmla="*/ 0 w 63"/>
                <a:gd name="T3" fmla="*/ 10 h 25"/>
                <a:gd name="T4" fmla="*/ 2 w 63"/>
                <a:gd name="T5" fmla="*/ 0 h 25"/>
                <a:gd name="T6" fmla="*/ 63 w 63"/>
                <a:gd name="T7" fmla="*/ 15 h 25"/>
                <a:gd name="T8" fmla="*/ 60 w 63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5">
                  <a:moveTo>
                    <a:pt x="60" y="25"/>
                  </a:moveTo>
                  <a:lnTo>
                    <a:pt x="0" y="10"/>
                  </a:lnTo>
                  <a:lnTo>
                    <a:pt x="2" y="0"/>
                  </a:lnTo>
                  <a:lnTo>
                    <a:pt x="63" y="15"/>
                  </a:lnTo>
                  <a:lnTo>
                    <a:pt x="60" y="25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Freeform 1040"/>
            <p:cNvSpPr>
              <a:spLocks/>
            </p:cNvSpPr>
            <p:nvPr/>
          </p:nvSpPr>
          <p:spPr bwMode="auto">
            <a:xfrm>
              <a:off x="563614" y="3022857"/>
              <a:ext cx="151693" cy="111241"/>
            </a:xfrm>
            <a:custGeom>
              <a:avLst/>
              <a:gdLst>
                <a:gd name="T0" fmla="*/ 6 w 60"/>
                <a:gd name="T1" fmla="*/ 44 h 44"/>
                <a:gd name="T2" fmla="*/ 0 w 60"/>
                <a:gd name="T3" fmla="*/ 35 h 44"/>
                <a:gd name="T4" fmla="*/ 54 w 60"/>
                <a:gd name="T5" fmla="*/ 0 h 44"/>
                <a:gd name="T6" fmla="*/ 60 w 60"/>
                <a:gd name="T7" fmla="*/ 9 h 44"/>
                <a:gd name="T8" fmla="*/ 6 w 60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44">
                  <a:moveTo>
                    <a:pt x="6" y="44"/>
                  </a:moveTo>
                  <a:lnTo>
                    <a:pt x="0" y="35"/>
                  </a:lnTo>
                  <a:lnTo>
                    <a:pt x="54" y="0"/>
                  </a:lnTo>
                  <a:lnTo>
                    <a:pt x="60" y="9"/>
                  </a:lnTo>
                  <a:lnTo>
                    <a:pt x="6" y="44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1041"/>
            <p:cNvSpPr>
              <a:spLocks/>
            </p:cNvSpPr>
            <p:nvPr/>
          </p:nvSpPr>
          <p:spPr bwMode="auto">
            <a:xfrm>
              <a:off x="690024" y="3123986"/>
              <a:ext cx="101128" cy="151693"/>
            </a:xfrm>
            <a:custGeom>
              <a:avLst/>
              <a:gdLst>
                <a:gd name="T0" fmla="*/ 9 w 40"/>
                <a:gd name="T1" fmla="*/ 60 h 60"/>
                <a:gd name="T2" fmla="*/ 0 w 40"/>
                <a:gd name="T3" fmla="*/ 55 h 60"/>
                <a:gd name="T4" fmla="*/ 31 w 40"/>
                <a:gd name="T5" fmla="*/ 0 h 60"/>
                <a:gd name="T6" fmla="*/ 40 w 40"/>
                <a:gd name="T7" fmla="*/ 5 h 60"/>
                <a:gd name="T8" fmla="*/ 9 w 40"/>
                <a:gd name="T9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60">
                  <a:moveTo>
                    <a:pt x="9" y="60"/>
                  </a:moveTo>
                  <a:lnTo>
                    <a:pt x="0" y="55"/>
                  </a:lnTo>
                  <a:lnTo>
                    <a:pt x="31" y="0"/>
                  </a:lnTo>
                  <a:lnTo>
                    <a:pt x="40" y="5"/>
                  </a:lnTo>
                  <a:lnTo>
                    <a:pt x="9" y="6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29" name="Group 135"/>
          <p:cNvGrpSpPr/>
          <p:nvPr/>
        </p:nvGrpSpPr>
        <p:grpSpPr>
          <a:xfrm>
            <a:off x="2543859" y="4469646"/>
            <a:ext cx="946687" cy="602938"/>
            <a:chOff x="525830" y="4113525"/>
            <a:chExt cx="1302029" cy="829253"/>
          </a:xfrm>
        </p:grpSpPr>
        <p:sp>
          <p:nvSpPr>
            <p:cNvPr id="130" name="Freeform 355"/>
            <p:cNvSpPr>
              <a:spLocks noEditPoints="1"/>
            </p:cNvSpPr>
            <p:nvPr/>
          </p:nvSpPr>
          <p:spPr bwMode="auto">
            <a:xfrm>
              <a:off x="700277" y="4113525"/>
              <a:ext cx="948080" cy="611827"/>
            </a:xfrm>
            <a:custGeom>
              <a:avLst/>
              <a:gdLst>
                <a:gd name="T0" fmla="*/ 278 w 281"/>
                <a:gd name="T1" fmla="*/ 182 h 182"/>
                <a:gd name="T2" fmla="*/ 3 w 281"/>
                <a:gd name="T3" fmla="*/ 182 h 182"/>
                <a:gd name="T4" fmla="*/ 0 w 281"/>
                <a:gd name="T5" fmla="*/ 179 h 182"/>
                <a:gd name="T6" fmla="*/ 0 w 281"/>
                <a:gd name="T7" fmla="*/ 7 h 182"/>
                <a:gd name="T8" fmla="*/ 7 w 281"/>
                <a:gd name="T9" fmla="*/ 0 h 182"/>
                <a:gd name="T10" fmla="*/ 274 w 281"/>
                <a:gd name="T11" fmla="*/ 0 h 182"/>
                <a:gd name="T12" fmla="*/ 281 w 281"/>
                <a:gd name="T13" fmla="*/ 7 h 182"/>
                <a:gd name="T14" fmla="*/ 281 w 281"/>
                <a:gd name="T15" fmla="*/ 179 h 182"/>
                <a:gd name="T16" fmla="*/ 278 w 281"/>
                <a:gd name="T17" fmla="*/ 182 h 182"/>
                <a:gd name="T18" fmla="*/ 6 w 281"/>
                <a:gd name="T19" fmla="*/ 176 h 182"/>
                <a:gd name="T20" fmla="*/ 275 w 281"/>
                <a:gd name="T21" fmla="*/ 176 h 182"/>
                <a:gd name="T22" fmla="*/ 275 w 281"/>
                <a:gd name="T23" fmla="*/ 7 h 182"/>
                <a:gd name="T24" fmla="*/ 275 w 281"/>
                <a:gd name="T25" fmla="*/ 6 h 182"/>
                <a:gd name="T26" fmla="*/ 274 w 281"/>
                <a:gd name="T27" fmla="*/ 6 h 182"/>
                <a:gd name="T28" fmla="*/ 7 w 281"/>
                <a:gd name="T29" fmla="*/ 6 h 182"/>
                <a:gd name="T30" fmla="*/ 6 w 281"/>
                <a:gd name="T31" fmla="*/ 6 h 182"/>
                <a:gd name="T32" fmla="*/ 6 w 281"/>
                <a:gd name="T33" fmla="*/ 7 h 182"/>
                <a:gd name="T34" fmla="*/ 6 w 281"/>
                <a:gd name="T35" fmla="*/ 176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1" h="182">
                  <a:moveTo>
                    <a:pt x="278" y="182"/>
                  </a:moveTo>
                  <a:cubicBezTo>
                    <a:pt x="3" y="182"/>
                    <a:pt x="3" y="182"/>
                    <a:pt x="3" y="182"/>
                  </a:cubicBezTo>
                  <a:cubicBezTo>
                    <a:pt x="2" y="182"/>
                    <a:pt x="0" y="181"/>
                    <a:pt x="0" y="17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2"/>
                    <a:pt x="4" y="0"/>
                    <a:pt x="7" y="0"/>
                  </a:cubicBezTo>
                  <a:cubicBezTo>
                    <a:pt x="274" y="0"/>
                    <a:pt x="274" y="0"/>
                    <a:pt x="274" y="0"/>
                  </a:cubicBezTo>
                  <a:cubicBezTo>
                    <a:pt x="277" y="0"/>
                    <a:pt x="281" y="2"/>
                    <a:pt x="281" y="7"/>
                  </a:cubicBezTo>
                  <a:cubicBezTo>
                    <a:pt x="281" y="179"/>
                    <a:pt x="281" y="179"/>
                    <a:pt x="281" y="179"/>
                  </a:cubicBezTo>
                  <a:cubicBezTo>
                    <a:pt x="281" y="181"/>
                    <a:pt x="280" y="182"/>
                    <a:pt x="278" y="182"/>
                  </a:cubicBezTo>
                  <a:close/>
                  <a:moveTo>
                    <a:pt x="6" y="176"/>
                  </a:moveTo>
                  <a:cubicBezTo>
                    <a:pt x="275" y="176"/>
                    <a:pt x="275" y="176"/>
                    <a:pt x="275" y="176"/>
                  </a:cubicBezTo>
                  <a:cubicBezTo>
                    <a:pt x="275" y="7"/>
                    <a:pt x="275" y="7"/>
                    <a:pt x="275" y="7"/>
                  </a:cubicBezTo>
                  <a:cubicBezTo>
                    <a:pt x="275" y="6"/>
                    <a:pt x="275" y="6"/>
                    <a:pt x="275" y="6"/>
                  </a:cubicBezTo>
                  <a:cubicBezTo>
                    <a:pt x="275" y="6"/>
                    <a:pt x="275" y="6"/>
                    <a:pt x="274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6" y="6"/>
                    <a:pt x="6" y="6"/>
                  </a:cubicBezTo>
                  <a:cubicBezTo>
                    <a:pt x="6" y="6"/>
                    <a:pt x="6" y="6"/>
                    <a:pt x="6" y="7"/>
                  </a:cubicBezTo>
                  <a:lnTo>
                    <a:pt x="6" y="17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1" tIns="45705" rIns="91411" bIns="45705" numCol="1" anchor="t" anchorCtr="0" compatLnSpc="1">
              <a:prstTxWarp prst="textNoShape">
                <a:avLst/>
              </a:prstTxWarp>
            </a:bodyPr>
            <a:lstStyle/>
            <a:p>
              <a:endParaRPr lang="en-US" sz="2999" dirty="0"/>
            </a:p>
          </p:txBody>
        </p:sp>
        <p:sp>
          <p:nvSpPr>
            <p:cNvPr id="131" name="Freeform 357"/>
            <p:cNvSpPr>
              <a:spLocks noEditPoints="1"/>
            </p:cNvSpPr>
            <p:nvPr/>
          </p:nvSpPr>
          <p:spPr bwMode="auto">
            <a:xfrm>
              <a:off x="525830" y="4705126"/>
              <a:ext cx="1302029" cy="237652"/>
            </a:xfrm>
            <a:custGeom>
              <a:avLst/>
              <a:gdLst>
                <a:gd name="T0" fmla="*/ 383 w 386"/>
                <a:gd name="T1" fmla="*/ 70 h 70"/>
                <a:gd name="T2" fmla="*/ 3 w 386"/>
                <a:gd name="T3" fmla="*/ 70 h 70"/>
                <a:gd name="T4" fmla="*/ 1 w 386"/>
                <a:gd name="T5" fmla="*/ 68 h 70"/>
                <a:gd name="T6" fmla="*/ 1 w 386"/>
                <a:gd name="T7" fmla="*/ 65 h 70"/>
                <a:gd name="T8" fmla="*/ 53 w 386"/>
                <a:gd name="T9" fmla="*/ 1 h 70"/>
                <a:gd name="T10" fmla="*/ 55 w 386"/>
                <a:gd name="T11" fmla="*/ 0 h 70"/>
                <a:gd name="T12" fmla="*/ 330 w 386"/>
                <a:gd name="T13" fmla="*/ 0 h 70"/>
                <a:gd name="T14" fmla="*/ 332 w 386"/>
                <a:gd name="T15" fmla="*/ 1 h 70"/>
                <a:gd name="T16" fmla="*/ 385 w 386"/>
                <a:gd name="T17" fmla="*/ 65 h 70"/>
                <a:gd name="T18" fmla="*/ 386 w 386"/>
                <a:gd name="T19" fmla="*/ 68 h 70"/>
                <a:gd name="T20" fmla="*/ 383 w 386"/>
                <a:gd name="T21" fmla="*/ 70 h 70"/>
                <a:gd name="T22" fmla="*/ 10 w 386"/>
                <a:gd name="T23" fmla="*/ 64 h 70"/>
                <a:gd name="T24" fmla="*/ 377 w 386"/>
                <a:gd name="T25" fmla="*/ 64 h 70"/>
                <a:gd name="T26" fmla="*/ 329 w 386"/>
                <a:gd name="T27" fmla="*/ 6 h 70"/>
                <a:gd name="T28" fmla="*/ 57 w 386"/>
                <a:gd name="T29" fmla="*/ 6 h 70"/>
                <a:gd name="T30" fmla="*/ 10 w 386"/>
                <a:gd name="T31" fmla="*/ 6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6" h="70">
                  <a:moveTo>
                    <a:pt x="383" y="70"/>
                  </a:moveTo>
                  <a:cubicBezTo>
                    <a:pt x="3" y="70"/>
                    <a:pt x="3" y="70"/>
                    <a:pt x="3" y="70"/>
                  </a:cubicBezTo>
                  <a:cubicBezTo>
                    <a:pt x="2" y="70"/>
                    <a:pt x="1" y="69"/>
                    <a:pt x="1" y="68"/>
                  </a:cubicBezTo>
                  <a:cubicBezTo>
                    <a:pt x="0" y="67"/>
                    <a:pt x="0" y="66"/>
                    <a:pt x="1" y="65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4" y="0"/>
                    <a:pt x="54" y="0"/>
                    <a:pt x="55" y="0"/>
                  </a:cubicBezTo>
                  <a:cubicBezTo>
                    <a:pt x="330" y="0"/>
                    <a:pt x="330" y="0"/>
                    <a:pt x="330" y="0"/>
                  </a:cubicBezTo>
                  <a:cubicBezTo>
                    <a:pt x="331" y="0"/>
                    <a:pt x="332" y="0"/>
                    <a:pt x="332" y="1"/>
                  </a:cubicBezTo>
                  <a:cubicBezTo>
                    <a:pt x="385" y="65"/>
                    <a:pt x="385" y="65"/>
                    <a:pt x="385" y="65"/>
                  </a:cubicBezTo>
                  <a:cubicBezTo>
                    <a:pt x="386" y="66"/>
                    <a:pt x="386" y="67"/>
                    <a:pt x="386" y="68"/>
                  </a:cubicBezTo>
                  <a:cubicBezTo>
                    <a:pt x="385" y="69"/>
                    <a:pt x="384" y="70"/>
                    <a:pt x="383" y="70"/>
                  </a:cubicBezTo>
                  <a:close/>
                  <a:moveTo>
                    <a:pt x="10" y="64"/>
                  </a:moveTo>
                  <a:cubicBezTo>
                    <a:pt x="377" y="64"/>
                    <a:pt x="377" y="64"/>
                    <a:pt x="377" y="64"/>
                  </a:cubicBezTo>
                  <a:cubicBezTo>
                    <a:pt x="329" y="6"/>
                    <a:pt x="329" y="6"/>
                    <a:pt x="329" y="6"/>
                  </a:cubicBezTo>
                  <a:cubicBezTo>
                    <a:pt x="57" y="6"/>
                    <a:pt x="57" y="6"/>
                    <a:pt x="57" y="6"/>
                  </a:cubicBezTo>
                  <a:lnTo>
                    <a:pt x="10" y="64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1" tIns="45705" rIns="91411" bIns="45705" numCol="1" anchor="t" anchorCtr="0" compatLnSpc="1">
              <a:prstTxWarp prst="textNoShape">
                <a:avLst/>
              </a:prstTxWarp>
            </a:bodyPr>
            <a:lstStyle/>
            <a:p>
              <a:endParaRPr lang="en-US" sz="2999" dirty="0"/>
            </a:p>
          </p:txBody>
        </p:sp>
        <p:sp>
          <p:nvSpPr>
            <p:cNvPr id="132" name="Freeform 358"/>
            <p:cNvSpPr>
              <a:spLocks noEditPoints="1"/>
            </p:cNvSpPr>
            <p:nvPr/>
          </p:nvSpPr>
          <p:spPr bwMode="auto">
            <a:xfrm>
              <a:off x="755898" y="4166618"/>
              <a:ext cx="836838" cy="495529"/>
            </a:xfrm>
            <a:custGeom>
              <a:avLst/>
              <a:gdLst>
                <a:gd name="T0" fmla="*/ 245 w 248"/>
                <a:gd name="T1" fmla="*/ 147 h 147"/>
                <a:gd name="T2" fmla="*/ 3 w 248"/>
                <a:gd name="T3" fmla="*/ 147 h 147"/>
                <a:gd name="T4" fmla="*/ 0 w 248"/>
                <a:gd name="T5" fmla="*/ 144 h 147"/>
                <a:gd name="T6" fmla="*/ 0 w 248"/>
                <a:gd name="T7" fmla="*/ 3 h 147"/>
                <a:gd name="T8" fmla="*/ 3 w 248"/>
                <a:gd name="T9" fmla="*/ 0 h 147"/>
                <a:gd name="T10" fmla="*/ 245 w 248"/>
                <a:gd name="T11" fmla="*/ 0 h 147"/>
                <a:gd name="T12" fmla="*/ 248 w 248"/>
                <a:gd name="T13" fmla="*/ 3 h 147"/>
                <a:gd name="T14" fmla="*/ 248 w 248"/>
                <a:gd name="T15" fmla="*/ 144 h 147"/>
                <a:gd name="T16" fmla="*/ 245 w 248"/>
                <a:gd name="T17" fmla="*/ 147 h 147"/>
                <a:gd name="T18" fmla="*/ 6 w 248"/>
                <a:gd name="T19" fmla="*/ 141 h 147"/>
                <a:gd name="T20" fmla="*/ 242 w 248"/>
                <a:gd name="T21" fmla="*/ 141 h 147"/>
                <a:gd name="T22" fmla="*/ 242 w 248"/>
                <a:gd name="T23" fmla="*/ 6 h 147"/>
                <a:gd name="T24" fmla="*/ 6 w 248"/>
                <a:gd name="T25" fmla="*/ 6 h 147"/>
                <a:gd name="T26" fmla="*/ 6 w 248"/>
                <a:gd name="T27" fmla="*/ 141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8" h="147">
                  <a:moveTo>
                    <a:pt x="245" y="147"/>
                  </a:moveTo>
                  <a:cubicBezTo>
                    <a:pt x="3" y="147"/>
                    <a:pt x="3" y="147"/>
                    <a:pt x="3" y="147"/>
                  </a:cubicBezTo>
                  <a:cubicBezTo>
                    <a:pt x="1" y="147"/>
                    <a:pt x="0" y="145"/>
                    <a:pt x="0" y="14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47" y="0"/>
                    <a:pt x="248" y="1"/>
                    <a:pt x="248" y="3"/>
                  </a:cubicBezTo>
                  <a:cubicBezTo>
                    <a:pt x="248" y="144"/>
                    <a:pt x="248" y="144"/>
                    <a:pt x="248" y="144"/>
                  </a:cubicBezTo>
                  <a:cubicBezTo>
                    <a:pt x="248" y="145"/>
                    <a:pt x="247" y="147"/>
                    <a:pt x="245" y="147"/>
                  </a:cubicBezTo>
                  <a:close/>
                  <a:moveTo>
                    <a:pt x="6" y="141"/>
                  </a:moveTo>
                  <a:cubicBezTo>
                    <a:pt x="242" y="141"/>
                    <a:pt x="242" y="141"/>
                    <a:pt x="242" y="141"/>
                  </a:cubicBezTo>
                  <a:cubicBezTo>
                    <a:pt x="242" y="6"/>
                    <a:pt x="242" y="6"/>
                    <a:pt x="242" y="6"/>
                  </a:cubicBezTo>
                  <a:cubicBezTo>
                    <a:pt x="6" y="6"/>
                    <a:pt x="6" y="6"/>
                    <a:pt x="6" y="6"/>
                  </a:cubicBezTo>
                  <a:lnTo>
                    <a:pt x="6" y="14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1" tIns="45705" rIns="91411" bIns="45705" numCol="1" anchor="t" anchorCtr="0" compatLnSpc="1">
              <a:prstTxWarp prst="textNoShape">
                <a:avLst/>
              </a:prstTxWarp>
            </a:bodyPr>
            <a:lstStyle/>
            <a:p>
              <a:endParaRPr lang="en-US" sz="2999" dirty="0"/>
            </a:p>
          </p:txBody>
        </p:sp>
        <p:sp>
          <p:nvSpPr>
            <p:cNvPr id="133" name="Freeform 359"/>
            <p:cNvSpPr>
              <a:spLocks/>
            </p:cNvSpPr>
            <p:nvPr/>
          </p:nvSpPr>
          <p:spPr bwMode="auto">
            <a:xfrm>
              <a:off x="836801" y="4305669"/>
              <a:ext cx="283160" cy="247765"/>
            </a:xfrm>
            <a:custGeom>
              <a:avLst/>
              <a:gdLst>
                <a:gd name="T0" fmla="*/ 37 w 84"/>
                <a:gd name="T1" fmla="*/ 74 h 74"/>
                <a:gd name="T2" fmla="*/ 0 w 84"/>
                <a:gd name="T3" fmla="*/ 37 h 74"/>
                <a:gd name="T4" fmla="*/ 37 w 84"/>
                <a:gd name="T5" fmla="*/ 0 h 74"/>
                <a:gd name="T6" fmla="*/ 40 w 84"/>
                <a:gd name="T7" fmla="*/ 3 h 74"/>
                <a:gd name="T8" fmla="*/ 37 w 84"/>
                <a:gd name="T9" fmla="*/ 6 h 74"/>
                <a:gd name="T10" fmla="*/ 6 w 84"/>
                <a:gd name="T11" fmla="*/ 37 h 74"/>
                <a:gd name="T12" fmla="*/ 37 w 84"/>
                <a:gd name="T13" fmla="*/ 68 h 74"/>
                <a:gd name="T14" fmla="*/ 48 w 84"/>
                <a:gd name="T15" fmla="*/ 66 h 74"/>
                <a:gd name="T16" fmla="*/ 51 w 84"/>
                <a:gd name="T17" fmla="*/ 64 h 74"/>
                <a:gd name="T18" fmla="*/ 79 w 84"/>
                <a:gd name="T19" fmla="*/ 49 h 74"/>
                <a:gd name="T20" fmla="*/ 83 w 84"/>
                <a:gd name="T21" fmla="*/ 50 h 74"/>
                <a:gd name="T22" fmla="*/ 82 w 84"/>
                <a:gd name="T23" fmla="*/ 54 h 74"/>
                <a:gd name="T24" fmla="*/ 51 w 84"/>
                <a:gd name="T25" fmla="*/ 71 h 74"/>
                <a:gd name="T26" fmla="*/ 37 w 84"/>
                <a:gd name="T2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74">
                  <a:moveTo>
                    <a:pt x="37" y="74"/>
                  </a:moveTo>
                  <a:cubicBezTo>
                    <a:pt x="16" y="74"/>
                    <a:pt x="0" y="57"/>
                    <a:pt x="0" y="37"/>
                  </a:cubicBezTo>
                  <a:cubicBezTo>
                    <a:pt x="0" y="16"/>
                    <a:pt x="16" y="0"/>
                    <a:pt x="37" y="0"/>
                  </a:cubicBezTo>
                  <a:cubicBezTo>
                    <a:pt x="38" y="0"/>
                    <a:pt x="40" y="1"/>
                    <a:pt x="40" y="3"/>
                  </a:cubicBezTo>
                  <a:cubicBezTo>
                    <a:pt x="40" y="5"/>
                    <a:pt x="38" y="6"/>
                    <a:pt x="37" y="6"/>
                  </a:cubicBezTo>
                  <a:cubicBezTo>
                    <a:pt x="20" y="6"/>
                    <a:pt x="6" y="20"/>
                    <a:pt x="6" y="37"/>
                  </a:cubicBezTo>
                  <a:cubicBezTo>
                    <a:pt x="6" y="54"/>
                    <a:pt x="20" y="68"/>
                    <a:pt x="37" y="68"/>
                  </a:cubicBezTo>
                  <a:cubicBezTo>
                    <a:pt x="41" y="68"/>
                    <a:pt x="45" y="67"/>
                    <a:pt x="48" y="66"/>
                  </a:cubicBezTo>
                  <a:cubicBezTo>
                    <a:pt x="51" y="64"/>
                    <a:pt x="51" y="64"/>
                    <a:pt x="51" y="64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81" y="48"/>
                    <a:pt x="82" y="49"/>
                    <a:pt x="83" y="50"/>
                  </a:cubicBezTo>
                  <a:cubicBezTo>
                    <a:pt x="84" y="51"/>
                    <a:pt x="83" y="53"/>
                    <a:pt x="82" y="54"/>
                  </a:cubicBezTo>
                  <a:cubicBezTo>
                    <a:pt x="51" y="71"/>
                    <a:pt x="51" y="71"/>
                    <a:pt x="51" y="71"/>
                  </a:cubicBezTo>
                  <a:cubicBezTo>
                    <a:pt x="46" y="73"/>
                    <a:pt x="41" y="74"/>
                    <a:pt x="37" y="7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1" tIns="45705" rIns="91411" bIns="45705" numCol="1" anchor="t" anchorCtr="0" compatLnSpc="1">
              <a:prstTxWarp prst="textNoShape">
                <a:avLst/>
              </a:prstTxWarp>
            </a:bodyPr>
            <a:lstStyle/>
            <a:p>
              <a:endParaRPr lang="en-US" sz="2999" dirty="0"/>
            </a:p>
          </p:txBody>
        </p:sp>
        <p:sp>
          <p:nvSpPr>
            <p:cNvPr id="134" name="Freeform 360"/>
            <p:cNvSpPr>
              <a:spLocks/>
            </p:cNvSpPr>
            <p:nvPr/>
          </p:nvSpPr>
          <p:spPr bwMode="auto">
            <a:xfrm>
              <a:off x="950569" y="4305669"/>
              <a:ext cx="222482" cy="116298"/>
            </a:xfrm>
            <a:custGeom>
              <a:avLst/>
              <a:gdLst>
                <a:gd name="T0" fmla="*/ 63 w 66"/>
                <a:gd name="T1" fmla="*/ 35 h 35"/>
                <a:gd name="T2" fmla="*/ 61 w 66"/>
                <a:gd name="T3" fmla="*/ 35 h 35"/>
                <a:gd name="T4" fmla="*/ 3 w 66"/>
                <a:gd name="T5" fmla="*/ 6 h 35"/>
                <a:gd name="T6" fmla="*/ 0 w 66"/>
                <a:gd name="T7" fmla="*/ 3 h 35"/>
                <a:gd name="T8" fmla="*/ 3 w 66"/>
                <a:gd name="T9" fmla="*/ 0 h 35"/>
                <a:gd name="T10" fmla="*/ 3 w 66"/>
                <a:gd name="T11" fmla="*/ 0 h 35"/>
                <a:gd name="T12" fmla="*/ 65 w 66"/>
                <a:gd name="T13" fmla="*/ 30 h 35"/>
                <a:gd name="T14" fmla="*/ 65 w 66"/>
                <a:gd name="T15" fmla="*/ 34 h 35"/>
                <a:gd name="T16" fmla="*/ 63 w 66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35">
                  <a:moveTo>
                    <a:pt x="63" y="35"/>
                  </a:moveTo>
                  <a:cubicBezTo>
                    <a:pt x="62" y="35"/>
                    <a:pt x="61" y="35"/>
                    <a:pt x="61" y="35"/>
                  </a:cubicBezTo>
                  <a:cubicBezTo>
                    <a:pt x="42" y="20"/>
                    <a:pt x="22" y="6"/>
                    <a:pt x="3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4" y="0"/>
                    <a:pt x="45" y="14"/>
                    <a:pt x="65" y="30"/>
                  </a:cubicBezTo>
                  <a:cubicBezTo>
                    <a:pt x="66" y="31"/>
                    <a:pt x="66" y="33"/>
                    <a:pt x="65" y="34"/>
                  </a:cubicBezTo>
                  <a:cubicBezTo>
                    <a:pt x="65" y="35"/>
                    <a:pt x="64" y="35"/>
                    <a:pt x="63" y="35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1" tIns="45705" rIns="91411" bIns="45705" numCol="1" anchor="t" anchorCtr="0" compatLnSpc="1">
              <a:prstTxWarp prst="textNoShape">
                <a:avLst/>
              </a:prstTxWarp>
            </a:bodyPr>
            <a:lstStyle/>
            <a:p>
              <a:endParaRPr lang="en-US" sz="2999" dirty="0"/>
            </a:p>
          </p:txBody>
        </p:sp>
        <p:sp>
          <p:nvSpPr>
            <p:cNvPr id="135" name="Freeform 361"/>
            <p:cNvSpPr>
              <a:spLocks/>
            </p:cNvSpPr>
            <p:nvPr/>
          </p:nvSpPr>
          <p:spPr bwMode="auto">
            <a:xfrm>
              <a:off x="1112375" y="4401741"/>
              <a:ext cx="60677" cy="25282"/>
            </a:xfrm>
            <a:custGeom>
              <a:avLst/>
              <a:gdLst>
                <a:gd name="T0" fmla="*/ 3 w 18"/>
                <a:gd name="T1" fmla="*/ 7 h 7"/>
                <a:gd name="T2" fmla="*/ 0 w 18"/>
                <a:gd name="T3" fmla="*/ 5 h 7"/>
                <a:gd name="T4" fmla="*/ 3 w 18"/>
                <a:gd name="T5" fmla="*/ 1 h 7"/>
                <a:gd name="T6" fmla="*/ 15 w 18"/>
                <a:gd name="T7" fmla="*/ 0 h 7"/>
                <a:gd name="T8" fmla="*/ 18 w 18"/>
                <a:gd name="T9" fmla="*/ 3 h 7"/>
                <a:gd name="T10" fmla="*/ 15 w 18"/>
                <a:gd name="T11" fmla="*/ 6 h 7"/>
                <a:gd name="T12" fmla="*/ 3 w 18"/>
                <a:gd name="T13" fmla="*/ 7 h 7"/>
                <a:gd name="T14" fmla="*/ 3 w 18"/>
                <a:gd name="T1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7">
                  <a:moveTo>
                    <a:pt x="3" y="7"/>
                  </a:moveTo>
                  <a:cubicBezTo>
                    <a:pt x="1" y="7"/>
                    <a:pt x="0" y="6"/>
                    <a:pt x="0" y="5"/>
                  </a:cubicBezTo>
                  <a:cubicBezTo>
                    <a:pt x="0" y="3"/>
                    <a:pt x="1" y="2"/>
                    <a:pt x="3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6" y="0"/>
                    <a:pt x="18" y="2"/>
                    <a:pt x="18" y="3"/>
                  </a:cubicBezTo>
                  <a:cubicBezTo>
                    <a:pt x="18" y="5"/>
                    <a:pt x="17" y="6"/>
                    <a:pt x="15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1" tIns="45705" rIns="91411" bIns="45705" numCol="1" anchor="t" anchorCtr="0" compatLnSpc="1">
              <a:prstTxWarp prst="textNoShape">
                <a:avLst/>
              </a:prstTxWarp>
            </a:bodyPr>
            <a:lstStyle/>
            <a:p>
              <a:endParaRPr lang="en-US" sz="2999" dirty="0"/>
            </a:p>
          </p:txBody>
        </p:sp>
        <p:sp>
          <p:nvSpPr>
            <p:cNvPr id="136" name="Freeform 362"/>
            <p:cNvSpPr>
              <a:spLocks/>
            </p:cNvSpPr>
            <p:nvPr/>
          </p:nvSpPr>
          <p:spPr bwMode="auto">
            <a:xfrm>
              <a:off x="1140186" y="4358762"/>
              <a:ext cx="32868" cy="63206"/>
            </a:xfrm>
            <a:custGeom>
              <a:avLst/>
              <a:gdLst>
                <a:gd name="T0" fmla="*/ 7 w 10"/>
                <a:gd name="T1" fmla="*/ 19 h 19"/>
                <a:gd name="T2" fmla="*/ 4 w 10"/>
                <a:gd name="T3" fmla="*/ 17 h 19"/>
                <a:gd name="T4" fmla="*/ 1 w 10"/>
                <a:gd name="T5" fmla="*/ 4 h 19"/>
                <a:gd name="T6" fmla="*/ 3 w 10"/>
                <a:gd name="T7" fmla="*/ 1 h 19"/>
                <a:gd name="T8" fmla="*/ 7 w 10"/>
                <a:gd name="T9" fmla="*/ 3 h 19"/>
                <a:gd name="T10" fmla="*/ 10 w 10"/>
                <a:gd name="T11" fmla="*/ 16 h 19"/>
                <a:gd name="T12" fmla="*/ 7 w 10"/>
                <a:gd name="T13" fmla="*/ 19 h 19"/>
                <a:gd name="T14" fmla="*/ 7 w 10"/>
                <a:gd name="T1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9">
                  <a:moveTo>
                    <a:pt x="7" y="19"/>
                  </a:moveTo>
                  <a:cubicBezTo>
                    <a:pt x="5" y="19"/>
                    <a:pt x="4" y="19"/>
                    <a:pt x="4" y="17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6" y="1"/>
                    <a:pt x="7" y="3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7"/>
                    <a:pt x="9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1" tIns="45705" rIns="91411" bIns="45705" numCol="1" anchor="t" anchorCtr="0" compatLnSpc="1">
              <a:prstTxWarp prst="textNoShape">
                <a:avLst/>
              </a:prstTxWarp>
            </a:bodyPr>
            <a:lstStyle/>
            <a:p>
              <a:endParaRPr lang="en-US" sz="2999" dirty="0"/>
            </a:p>
          </p:txBody>
        </p:sp>
        <p:sp>
          <p:nvSpPr>
            <p:cNvPr id="137" name="Freeform 363"/>
            <p:cNvSpPr>
              <a:spLocks/>
            </p:cNvSpPr>
            <p:nvPr/>
          </p:nvSpPr>
          <p:spPr bwMode="auto">
            <a:xfrm>
              <a:off x="1236258" y="4305669"/>
              <a:ext cx="285689" cy="247765"/>
            </a:xfrm>
            <a:custGeom>
              <a:avLst/>
              <a:gdLst>
                <a:gd name="T0" fmla="*/ 47 w 84"/>
                <a:gd name="T1" fmla="*/ 74 h 74"/>
                <a:gd name="T2" fmla="*/ 44 w 84"/>
                <a:gd name="T3" fmla="*/ 71 h 74"/>
                <a:gd name="T4" fmla="*/ 47 w 84"/>
                <a:gd name="T5" fmla="*/ 68 h 74"/>
                <a:gd name="T6" fmla="*/ 78 w 84"/>
                <a:gd name="T7" fmla="*/ 37 h 74"/>
                <a:gd name="T8" fmla="*/ 47 w 84"/>
                <a:gd name="T9" fmla="*/ 6 h 74"/>
                <a:gd name="T10" fmla="*/ 35 w 84"/>
                <a:gd name="T11" fmla="*/ 8 h 74"/>
                <a:gd name="T12" fmla="*/ 33 w 84"/>
                <a:gd name="T13" fmla="*/ 9 h 74"/>
                <a:gd name="T14" fmla="*/ 4 w 84"/>
                <a:gd name="T15" fmla="*/ 25 h 74"/>
                <a:gd name="T16" fmla="*/ 0 w 84"/>
                <a:gd name="T17" fmla="*/ 24 h 74"/>
                <a:gd name="T18" fmla="*/ 2 w 84"/>
                <a:gd name="T19" fmla="*/ 20 h 74"/>
                <a:gd name="T20" fmla="*/ 33 w 84"/>
                <a:gd name="T21" fmla="*/ 3 h 74"/>
                <a:gd name="T22" fmla="*/ 47 w 84"/>
                <a:gd name="T23" fmla="*/ 0 h 74"/>
                <a:gd name="T24" fmla="*/ 84 w 84"/>
                <a:gd name="T25" fmla="*/ 37 h 74"/>
                <a:gd name="T26" fmla="*/ 47 w 84"/>
                <a:gd name="T2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74">
                  <a:moveTo>
                    <a:pt x="47" y="74"/>
                  </a:moveTo>
                  <a:cubicBezTo>
                    <a:pt x="45" y="74"/>
                    <a:pt x="44" y="72"/>
                    <a:pt x="44" y="71"/>
                  </a:cubicBezTo>
                  <a:cubicBezTo>
                    <a:pt x="44" y="69"/>
                    <a:pt x="45" y="68"/>
                    <a:pt x="47" y="68"/>
                  </a:cubicBezTo>
                  <a:cubicBezTo>
                    <a:pt x="64" y="68"/>
                    <a:pt x="78" y="54"/>
                    <a:pt x="78" y="37"/>
                  </a:cubicBezTo>
                  <a:cubicBezTo>
                    <a:pt x="78" y="20"/>
                    <a:pt x="64" y="6"/>
                    <a:pt x="47" y="6"/>
                  </a:cubicBezTo>
                  <a:cubicBezTo>
                    <a:pt x="43" y="6"/>
                    <a:pt x="39" y="7"/>
                    <a:pt x="35" y="8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1" y="25"/>
                    <a:pt x="0" y="24"/>
                  </a:cubicBezTo>
                  <a:cubicBezTo>
                    <a:pt x="0" y="22"/>
                    <a:pt x="0" y="20"/>
                    <a:pt x="2" y="20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7" y="1"/>
                    <a:pt x="42" y="0"/>
                    <a:pt x="47" y="0"/>
                  </a:cubicBezTo>
                  <a:cubicBezTo>
                    <a:pt x="67" y="0"/>
                    <a:pt x="84" y="16"/>
                    <a:pt x="84" y="37"/>
                  </a:cubicBezTo>
                  <a:cubicBezTo>
                    <a:pt x="84" y="57"/>
                    <a:pt x="67" y="74"/>
                    <a:pt x="47" y="7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1" tIns="45705" rIns="91411" bIns="45705" numCol="1" anchor="t" anchorCtr="0" compatLnSpc="1">
              <a:prstTxWarp prst="textNoShape">
                <a:avLst/>
              </a:prstTxWarp>
            </a:bodyPr>
            <a:lstStyle/>
            <a:p>
              <a:endParaRPr lang="en-US" sz="2999" dirty="0"/>
            </a:p>
          </p:txBody>
        </p:sp>
        <p:sp>
          <p:nvSpPr>
            <p:cNvPr id="138" name="Freeform 364"/>
            <p:cNvSpPr>
              <a:spLocks/>
            </p:cNvSpPr>
            <p:nvPr/>
          </p:nvSpPr>
          <p:spPr bwMode="auto">
            <a:xfrm>
              <a:off x="1180637" y="4432080"/>
              <a:ext cx="222482" cy="121354"/>
            </a:xfrm>
            <a:custGeom>
              <a:avLst/>
              <a:gdLst>
                <a:gd name="T0" fmla="*/ 63 w 66"/>
                <a:gd name="T1" fmla="*/ 36 h 36"/>
                <a:gd name="T2" fmla="*/ 63 w 66"/>
                <a:gd name="T3" fmla="*/ 36 h 36"/>
                <a:gd name="T4" fmla="*/ 2 w 66"/>
                <a:gd name="T5" fmla="*/ 6 h 36"/>
                <a:gd name="T6" fmla="*/ 1 w 66"/>
                <a:gd name="T7" fmla="*/ 1 h 36"/>
                <a:gd name="T8" fmla="*/ 6 w 66"/>
                <a:gd name="T9" fmla="*/ 1 h 36"/>
                <a:gd name="T10" fmla="*/ 63 w 66"/>
                <a:gd name="T11" fmla="*/ 30 h 36"/>
                <a:gd name="T12" fmla="*/ 66 w 66"/>
                <a:gd name="T13" fmla="*/ 33 h 36"/>
                <a:gd name="T14" fmla="*/ 63 w 66"/>
                <a:gd name="T1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36">
                  <a:moveTo>
                    <a:pt x="63" y="36"/>
                  </a:moveTo>
                  <a:cubicBezTo>
                    <a:pt x="63" y="36"/>
                    <a:pt x="63" y="36"/>
                    <a:pt x="63" y="36"/>
                  </a:cubicBezTo>
                  <a:cubicBezTo>
                    <a:pt x="42" y="36"/>
                    <a:pt x="21" y="21"/>
                    <a:pt x="2" y="6"/>
                  </a:cubicBezTo>
                  <a:cubicBezTo>
                    <a:pt x="1" y="5"/>
                    <a:pt x="0" y="3"/>
                    <a:pt x="1" y="1"/>
                  </a:cubicBezTo>
                  <a:cubicBezTo>
                    <a:pt x="2" y="0"/>
                    <a:pt x="4" y="0"/>
                    <a:pt x="6" y="1"/>
                  </a:cubicBezTo>
                  <a:cubicBezTo>
                    <a:pt x="24" y="16"/>
                    <a:pt x="44" y="30"/>
                    <a:pt x="63" y="30"/>
                  </a:cubicBezTo>
                  <a:cubicBezTo>
                    <a:pt x="65" y="30"/>
                    <a:pt x="66" y="31"/>
                    <a:pt x="66" y="33"/>
                  </a:cubicBezTo>
                  <a:cubicBezTo>
                    <a:pt x="66" y="34"/>
                    <a:pt x="65" y="36"/>
                    <a:pt x="63" y="3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1" tIns="45705" rIns="91411" bIns="45705" numCol="1" anchor="t" anchorCtr="0" compatLnSpc="1">
              <a:prstTxWarp prst="textNoShape">
                <a:avLst/>
              </a:prstTxWarp>
            </a:bodyPr>
            <a:lstStyle/>
            <a:p>
              <a:endParaRPr lang="en-US" sz="2999" dirty="0"/>
            </a:p>
          </p:txBody>
        </p:sp>
        <p:sp>
          <p:nvSpPr>
            <p:cNvPr id="139" name="Freeform 365"/>
            <p:cNvSpPr>
              <a:spLocks/>
            </p:cNvSpPr>
            <p:nvPr/>
          </p:nvSpPr>
          <p:spPr bwMode="auto">
            <a:xfrm>
              <a:off x="1183165" y="4432080"/>
              <a:ext cx="63206" cy="25282"/>
            </a:xfrm>
            <a:custGeom>
              <a:avLst/>
              <a:gdLst>
                <a:gd name="T0" fmla="*/ 16 w 19"/>
                <a:gd name="T1" fmla="*/ 7 h 7"/>
                <a:gd name="T2" fmla="*/ 15 w 19"/>
                <a:gd name="T3" fmla="*/ 7 h 7"/>
                <a:gd name="T4" fmla="*/ 3 w 19"/>
                <a:gd name="T5" fmla="*/ 6 h 7"/>
                <a:gd name="T6" fmla="*/ 0 w 19"/>
                <a:gd name="T7" fmla="*/ 3 h 7"/>
                <a:gd name="T8" fmla="*/ 3 w 19"/>
                <a:gd name="T9" fmla="*/ 0 h 7"/>
                <a:gd name="T10" fmla="*/ 16 w 19"/>
                <a:gd name="T11" fmla="*/ 1 h 7"/>
                <a:gd name="T12" fmla="*/ 19 w 19"/>
                <a:gd name="T13" fmla="*/ 4 h 7"/>
                <a:gd name="T14" fmla="*/ 16 w 19"/>
                <a:gd name="T1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7">
                  <a:moveTo>
                    <a:pt x="16" y="7"/>
                  </a:moveTo>
                  <a:cubicBezTo>
                    <a:pt x="16" y="7"/>
                    <a:pt x="16" y="7"/>
                    <a:pt x="15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8" y="1"/>
                    <a:pt x="19" y="3"/>
                    <a:pt x="19" y="4"/>
                  </a:cubicBezTo>
                  <a:cubicBezTo>
                    <a:pt x="19" y="6"/>
                    <a:pt x="17" y="7"/>
                    <a:pt x="16" y="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1" tIns="45705" rIns="91411" bIns="45705" numCol="1" anchor="t" anchorCtr="0" compatLnSpc="1">
              <a:prstTxWarp prst="textNoShape">
                <a:avLst/>
              </a:prstTxWarp>
            </a:bodyPr>
            <a:lstStyle/>
            <a:p>
              <a:endParaRPr lang="en-US" sz="2999" dirty="0"/>
            </a:p>
          </p:txBody>
        </p:sp>
        <p:sp>
          <p:nvSpPr>
            <p:cNvPr id="140" name="Freeform 366"/>
            <p:cNvSpPr>
              <a:spLocks/>
            </p:cNvSpPr>
            <p:nvPr/>
          </p:nvSpPr>
          <p:spPr bwMode="auto">
            <a:xfrm>
              <a:off x="1180637" y="4432080"/>
              <a:ext cx="35395" cy="65733"/>
            </a:xfrm>
            <a:custGeom>
              <a:avLst/>
              <a:gdLst>
                <a:gd name="T0" fmla="*/ 8 w 11"/>
                <a:gd name="T1" fmla="*/ 19 h 19"/>
                <a:gd name="T2" fmla="*/ 5 w 11"/>
                <a:gd name="T3" fmla="*/ 17 h 19"/>
                <a:gd name="T4" fmla="*/ 1 w 11"/>
                <a:gd name="T5" fmla="*/ 4 h 19"/>
                <a:gd name="T6" fmla="*/ 3 w 11"/>
                <a:gd name="T7" fmla="*/ 0 h 19"/>
                <a:gd name="T8" fmla="*/ 7 w 11"/>
                <a:gd name="T9" fmla="*/ 2 h 19"/>
                <a:gd name="T10" fmla="*/ 11 w 11"/>
                <a:gd name="T11" fmla="*/ 16 h 19"/>
                <a:gd name="T12" fmla="*/ 9 w 11"/>
                <a:gd name="T13" fmla="*/ 19 h 19"/>
                <a:gd name="T14" fmla="*/ 8 w 11"/>
                <a:gd name="T1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9">
                  <a:moveTo>
                    <a:pt x="8" y="19"/>
                  </a:moveTo>
                  <a:cubicBezTo>
                    <a:pt x="6" y="19"/>
                    <a:pt x="5" y="19"/>
                    <a:pt x="5" y="17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4" y="0"/>
                    <a:pt x="6" y="1"/>
                    <a:pt x="7" y="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7"/>
                    <a:pt x="10" y="19"/>
                    <a:pt x="9" y="19"/>
                  </a:cubicBezTo>
                  <a:cubicBezTo>
                    <a:pt x="8" y="19"/>
                    <a:pt x="8" y="19"/>
                    <a:pt x="8" y="19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1" tIns="45705" rIns="91411" bIns="45705" numCol="1" anchor="t" anchorCtr="0" compatLnSpc="1">
              <a:prstTxWarp prst="textNoShape">
                <a:avLst/>
              </a:prstTxWarp>
            </a:bodyPr>
            <a:lstStyle/>
            <a:p>
              <a:endParaRPr lang="en-US" sz="2999" dirty="0"/>
            </a:p>
          </p:txBody>
        </p:sp>
      </p:grpSp>
      <p:sp>
        <p:nvSpPr>
          <p:cNvPr id="141" name="Rectangle 116"/>
          <p:cNvSpPr/>
          <p:nvPr/>
        </p:nvSpPr>
        <p:spPr>
          <a:xfrm>
            <a:off x="10548115" y="4516498"/>
            <a:ext cx="1960992" cy="64633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2E2E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t" anchorCtr="0">
            <a:spAutoFit/>
          </a:bodyPr>
          <a:lstStyle/>
          <a:p>
            <a:pPr defTabSz="1320394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r>
              <a:rPr lang="ru-RU" sz="1400" b="1" dirty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Создание </a:t>
            </a:r>
            <a:endParaRPr lang="ru-RU" sz="1400" b="1" dirty="0" smtClean="0">
              <a:solidFill>
                <a:schemeClr val="tx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defTabSz="1320394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r>
              <a:rPr lang="ru-RU" sz="1400" b="1" dirty="0" smtClean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инновационной </a:t>
            </a:r>
          </a:p>
          <a:p>
            <a:pPr defTabSz="1320394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r>
              <a:rPr lang="ru-RU" sz="1400" b="1" dirty="0" smtClean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экосистемы</a:t>
            </a:r>
            <a:endParaRPr lang="ru-RU" sz="1400" b="1" dirty="0">
              <a:solidFill>
                <a:schemeClr val="tx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2" name="Rectangle 108"/>
          <p:cNvSpPr/>
          <p:nvPr/>
        </p:nvSpPr>
        <p:spPr>
          <a:xfrm>
            <a:off x="5730069" y="4494017"/>
            <a:ext cx="1960992" cy="64633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2E2E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t" anchorCtr="0">
            <a:spAutoFit/>
          </a:bodyPr>
          <a:lstStyle/>
          <a:p>
            <a:pPr defTabSz="1320394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r>
              <a:rPr lang="ru-RU" sz="1400" b="1" dirty="0" smtClean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Реализация цифрового</a:t>
            </a:r>
            <a:r>
              <a:rPr lang="ru-RU" sz="1400" b="1" dirty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/>
            </a:r>
            <a:br>
              <a:rPr lang="ru-RU" sz="1400" b="1" dirty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ru-RU" sz="1400" b="1" dirty="0" smtClean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Шелкового пути</a:t>
            </a:r>
            <a:endParaRPr lang="ru-RU" sz="1400" b="1" dirty="0">
              <a:solidFill>
                <a:schemeClr val="tx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3" name="Rectangle 107"/>
          <p:cNvSpPr/>
          <p:nvPr/>
        </p:nvSpPr>
        <p:spPr>
          <a:xfrm>
            <a:off x="8249699" y="4504489"/>
            <a:ext cx="1960992" cy="64633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2E2E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t" anchorCtr="0">
            <a:spAutoFit/>
          </a:bodyPr>
          <a:lstStyle/>
          <a:p>
            <a:pPr defTabSz="1320394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r>
              <a:rPr lang="ru-RU" sz="1400" b="1" dirty="0" smtClean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Развитие человеческого </a:t>
            </a:r>
          </a:p>
          <a:p>
            <a:pPr defTabSz="1320394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r>
              <a:rPr lang="ru-RU" sz="1400" b="1" dirty="0" smtClean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капитала</a:t>
            </a:r>
            <a:endParaRPr lang="ru-RU" sz="1400" b="1" dirty="0">
              <a:solidFill>
                <a:schemeClr val="tx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4" name="Rectangle 105"/>
          <p:cNvSpPr/>
          <p:nvPr/>
        </p:nvSpPr>
        <p:spPr>
          <a:xfrm>
            <a:off x="1031894" y="4426898"/>
            <a:ext cx="1960992" cy="64633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2E2E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t" anchorCtr="0">
            <a:spAutoFit/>
          </a:bodyPr>
          <a:lstStyle/>
          <a:p>
            <a:pPr defTabSz="1320394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r>
              <a:rPr lang="ru-RU" sz="1400" b="1" dirty="0" smtClean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Цифровизация отраслей экономики</a:t>
            </a:r>
            <a:endParaRPr lang="ru-RU" sz="1400" b="1" dirty="0">
              <a:solidFill>
                <a:schemeClr val="tx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5" name="Rectangle 106"/>
          <p:cNvSpPr/>
          <p:nvPr/>
        </p:nvSpPr>
        <p:spPr>
          <a:xfrm>
            <a:off x="3552258" y="4456732"/>
            <a:ext cx="1960992" cy="64633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2E2E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t" anchorCtr="0">
            <a:spAutoFit/>
          </a:bodyPr>
          <a:lstStyle/>
          <a:p>
            <a:pPr defTabSz="1320394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r>
              <a:rPr lang="ru-RU" sz="1400" b="1" dirty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Переход </a:t>
            </a:r>
            <a:r>
              <a:rPr lang="ru-RU" sz="1400" b="1" dirty="0" smtClean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на цифровое</a:t>
            </a:r>
            <a:r>
              <a:rPr lang="ru-RU" sz="1400" b="1" dirty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/>
            </a:r>
            <a:br>
              <a:rPr lang="ru-RU" sz="1400" b="1" dirty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ru-RU" sz="1400" b="1" dirty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государство</a:t>
            </a:r>
          </a:p>
        </p:txBody>
      </p:sp>
      <p:sp>
        <p:nvSpPr>
          <p:cNvPr id="187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9448800" y="6466394"/>
            <a:ext cx="2743200" cy="365125"/>
          </a:xfrm>
        </p:spPr>
        <p:txBody>
          <a:bodyPr/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94" name="Прямоугольник 193"/>
          <p:cNvSpPr/>
          <p:nvPr/>
        </p:nvSpPr>
        <p:spPr>
          <a:xfrm>
            <a:off x="2729060" y="2070951"/>
            <a:ext cx="645184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002060"/>
                </a:solidFill>
                <a:cs typeface="Arial" pitchFamily="34" charset="0"/>
              </a:rPr>
              <a:t>2 ВЕКТОРА И 5 НАПРАВЛЕНИЙ</a:t>
            </a:r>
            <a:endParaRPr lang="ru-RU" b="1" dirty="0">
              <a:solidFill>
                <a:srgbClr val="002060"/>
              </a:solidFill>
              <a:cs typeface="Arial" pitchFamily="34" charset="0"/>
            </a:endParaRPr>
          </a:p>
        </p:txBody>
      </p:sp>
      <p:cxnSp>
        <p:nvCxnSpPr>
          <p:cNvPr id="195" name="Прямая соединительная линия 194"/>
          <p:cNvCxnSpPr/>
          <p:nvPr/>
        </p:nvCxnSpPr>
        <p:spPr>
          <a:xfrm>
            <a:off x="2729060" y="2547859"/>
            <a:ext cx="645184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Прямоугольник 197"/>
          <p:cNvSpPr/>
          <p:nvPr/>
        </p:nvSpPr>
        <p:spPr>
          <a:xfrm>
            <a:off x="1370964" y="2744853"/>
            <a:ext cx="4293080" cy="142241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9" name="Прямоугольник 198"/>
          <p:cNvSpPr/>
          <p:nvPr/>
        </p:nvSpPr>
        <p:spPr>
          <a:xfrm>
            <a:off x="2438766" y="2833647"/>
            <a:ext cx="32252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rgbClr val="0077C8"/>
              </a:buClr>
              <a:buSzPct val="90000"/>
            </a:pPr>
            <a:r>
              <a:rPr lang="ru-RU" sz="1600" dirty="0" smtClean="0">
                <a:solidFill>
                  <a:srgbClr val="1F497D"/>
                </a:solidFill>
                <a:ea typeface="Tahoma"/>
                <a:cs typeface="Tahoma"/>
                <a:sym typeface="Tahoma"/>
              </a:rPr>
              <a:t>Существенное ускорение темпов развития экономики и улучшение качества жизни населения</a:t>
            </a:r>
            <a:br>
              <a:rPr lang="ru-RU" sz="1600" dirty="0" smtClean="0">
                <a:solidFill>
                  <a:srgbClr val="1F497D"/>
                </a:solidFill>
                <a:ea typeface="Tahoma"/>
                <a:cs typeface="Tahoma"/>
                <a:sym typeface="Tahoma"/>
              </a:rPr>
            </a:br>
            <a:r>
              <a:rPr lang="ru-RU" sz="1600" i="1" dirty="0" smtClean="0">
                <a:ea typeface="Tahoma"/>
                <a:cs typeface="Tahoma"/>
                <a:sym typeface="Tahoma"/>
              </a:rPr>
              <a:t>(среднесрочная перспектива)</a:t>
            </a:r>
          </a:p>
        </p:txBody>
      </p:sp>
      <p:sp>
        <p:nvSpPr>
          <p:cNvPr id="200" name="Овал 199"/>
          <p:cNvSpPr/>
          <p:nvPr/>
        </p:nvSpPr>
        <p:spPr>
          <a:xfrm>
            <a:off x="1458172" y="2921326"/>
            <a:ext cx="901860" cy="90186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ru-RU" sz="3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1" name="Прямоугольник 200"/>
          <p:cNvSpPr/>
          <p:nvPr/>
        </p:nvSpPr>
        <p:spPr>
          <a:xfrm>
            <a:off x="6353858" y="2745098"/>
            <a:ext cx="4293080" cy="1425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2" name="Прямоугольник 201"/>
          <p:cNvSpPr/>
          <p:nvPr/>
        </p:nvSpPr>
        <p:spPr>
          <a:xfrm>
            <a:off x="7421660" y="2794132"/>
            <a:ext cx="322527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rgbClr val="0077C8"/>
              </a:buClr>
              <a:buSzPct val="90000"/>
            </a:pPr>
            <a:r>
              <a:rPr lang="ru-RU" sz="1600" dirty="0">
                <a:solidFill>
                  <a:srgbClr val="1F497D"/>
                </a:solidFill>
                <a:ea typeface="Tahoma"/>
                <a:cs typeface="Tahoma"/>
                <a:sym typeface="Tahoma"/>
              </a:rPr>
              <a:t>Переход экономики Казахстана на принципиально новую траекторию развития</a:t>
            </a:r>
            <a:r>
              <a:rPr lang="ru-RU" sz="1600" dirty="0">
                <a:cs typeface="Arial" pitchFamily="34" charset="0"/>
              </a:rPr>
              <a:t> </a:t>
            </a:r>
            <a:r>
              <a:rPr lang="ru-RU" sz="1600" dirty="0">
                <a:solidFill>
                  <a:srgbClr val="1F497D"/>
                </a:solidFill>
                <a:ea typeface="Tahoma"/>
                <a:cs typeface="Tahoma"/>
                <a:sym typeface="Tahoma"/>
              </a:rPr>
              <a:t>для обеспечения долгосрочного роста  </a:t>
            </a:r>
          </a:p>
          <a:p>
            <a:pPr marL="0" lvl="1">
              <a:buClr>
                <a:srgbClr val="0077C8"/>
              </a:buClr>
              <a:buSzPct val="90000"/>
            </a:pPr>
            <a:r>
              <a:rPr lang="ru-RU" sz="1600" i="1" dirty="0">
                <a:ea typeface="Tahoma"/>
                <a:cs typeface="Tahoma"/>
                <a:sym typeface="Tahoma"/>
              </a:rPr>
              <a:t>(долгосрочная перспектива)</a:t>
            </a:r>
          </a:p>
        </p:txBody>
      </p:sp>
      <p:sp>
        <p:nvSpPr>
          <p:cNvPr id="203" name="Овал 202"/>
          <p:cNvSpPr/>
          <p:nvPr/>
        </p:nvSpPr>
        <p:spPr>
          <a:xfrm>
            <a:off x="6441066" y="3018758"/>
            <a:ext cx="901860" cy="90186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ru-RU" sz="3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32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entagon 6"/>
          <p:cNvSpPr/>
          <p:nvPr/>
        </p:nvSpPr>
        <p:spPr>
          <a:xfrm>
            <a:off x="6345277" y="3466701"/>
            <a:ext cx="4129982" cy="2438765"/>
          </a:xfrm>
          <a:prstGeom prst="homePlate">
            <a:avLst>
              <a:gd name="adj" fmla="val 10429"/>
            </a:avLst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2304" bIns="62304" rtlCol="0" anchor="ctr" anchorCtr="0"/>
          <a:lstStyle/>
          <a:p>
            <a:pPr algn="ctr"/>
            <a:endParaRPr lang="ru-RU" sz="969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8" name="Pentagon 6"/>
          <p:cNvSpPr/>
          <p:nvPr/>
        </p:nvSpPr>
        <p:spPr>
          <a:xfrm>
            <a:off x="1077693" y="3500550"/>
            <a:ext cx="4188339" cy="2404916"/>
          </a:xfrm>
          <a:prstGeom prst="homePlate">
            <a:avLst>
              <a:gd name="adj" fmla="val 10429"/>
            </a:avLst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2304" bIns="62304" rtlCol="0" anchor="ctr" anchorCtr="0"/>
          <a:lstStyle/>
          <a:p>
            <a:pPr algn="ctr"/>
            <a:endParaRPr lang="ru-RU" sz="969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Pentagon 6"/>
          <p:cNvSpPr/>
          <p:nvPr/>
        </p:nvSpPr>
        <p:spPr>
          <a:xfrm>
            <a:off x="6345277" y="313803"/>
            <a:ext cx="4129982" cy="2660868"/>
          </a:xfrm>
          <a:prstGeom prst="homePlate">
            <a:avLst>
              <a:gd name="adj" fmla="val 10429"/>
            </a:avLst>
          </a:prstGeom>
          <a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2304" bIns="62304" rtlCol="0" anchor="ctr" anchorCtr="0"/>
          <a:lstStyle/>
          <a:p>
            <a:pPr algn="ctr"/>
            <a:endParaRPr lang="ru-RU" sz="969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52" name="Pentagon 6"/>
          <p:cNvSpPr/>
          <p:nvPr/>
        </p:nvSpPr>
        <p:spPr>
          <a:xfrm>
            <a:off x="1039486" y="313803"/>
            <a:ext cx="4188339" cy="2644000"/>
          </a:xfrm>
          <a:prstGeom prst="homePlate">
            <a:avLst>
              <a:gd name="adj" fmla="val 10429"/>
            </a:avLst>
          </a:prstGeom>
          <a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2304" bIns="62304" rtlCol="0" anchor="ctr" anchorCtr="0"/>
          <a:lstStyle/>
          <a:p>
            <a:pPr algn="ctr"/>
            <a:endParaRPr lang="ru-RU" sz="969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53" name="Rectangle 7"/>
          <p:cNvSpPr/>
          <p:nvPr/>
        </p:nvSpPr>
        <p:spPr>
          <a:xfrm>
            <a:off x="966776" y="766741"/>
            <a:ext cx="4073870" cy="22454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56000"/>
                </a:schemeClr>
              </a:gs>
            </a:gsLst>
            <a:lin ang="0" scaled="1"/>
            <a:tileRect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2304" bIns="62304" rtlCol="0" anchor="ctr" anchorCtr="0"/>
          <a:lstStyle/>
          <a:p>
            <a:pPr algn="ctr"/>
            <a:endParaRPr lang="ru-RU" sz="969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62" name="Freeform 28"/>
          <p:cNvSpPr/>
          <p:nvPr/>
        </p:nvSpPr>
        <p:spPr>
          <a:xfrm>
            <a:off x="1522597" y="2330312"/>
            <a:ext cx="3786073" cy="4045923"/>
          </a:xfrm>
          <a:custGeom>
            <a:avLst/>
            <a:gdLst>
              <a:gd name="connsiteX0" fmla="*/ 0 w 4400550"/>
              <a:gd name="connsiteY0" fmla="*/ 0 h 4552950"/>
              <a:gd name="connsiteX1" fmla="*/ 4238625 w 4400550"/>
              <a:gd name="connsiteY1" fmla="*/ 0 h 4552950"/>
              <a:gd name="connsiteX2" fmla="*/ 4400550 w 4400550"/>
              <a:gd name="connsiteY2" fmla="*/ 2257425 h 4552950"/>
              <a:gd name="connsiteX3" fmla="*/ 4257675 w 4400550"/>
              <a:gd name="connsiteY3" fmla="*/ 4552950 h 4552950"/>
              <a:gd name="connsiteX4" fmla="*/ 19050 w 4400550"/>
              <a:gd name="connsiteY4" fmla="*/ 4552950 h 4552950"/>
              <a:gd name="connsiteX5" fmla="*/ 19050 w 4400550"/>
              <a:gd name="connsiteY5" fmla="*/ 4552950 h 4552950"/>
              <a:gd name="connsiteX0" fmla="*/ 0 w 4739628"/>
              <a:gd name="connsiteY0" fmla="*/ 0 h 4552950"/>
              <a:gd name="connsiteX1" fmla="*/ 4238625 w 4739628"/>
              <a:gd name="connsiteY1" fmla="*/ 0 h 4552950"/>
              <a:gd name="connsiteX2" fmla="*/ 4739628 w 4739628"/>
              <a:gd name="connsiteY2" fmla="*/ 2266702 h 4552950"/>
              <a:gd name="connsiteX3" fmla="*/ 4257675 w 4739628"/>
              <a:gd name="connsiteY3" fmla="*/ 4552950 h 4552950"/>
              <a:gd name="connsiteX4" fmla="*/ 19050 w 4739628"/>
              <a:gd name="connsiteY4" fmla="*/ 4552950 h 4552950"/>
              <a:gd name="connsiteX5" fmla="*/ 19050 w 4739628"/>
              <a:gd name="connsiteY5" fmla="*/ 4552950 h 455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39628" h="4552950">
                <a:moveTo>
                  <a:pt x="0" y="0"/>
                </a:moveTo>
                <a:lnTo>
                  <a:pt x="4238625" y="0"/>
                </a:lnTo>
                <a:lnTo>
                  <a:pt x="4739628" y="2266702"/>
                </a:lnTo>
                <a:lnTo>
                  <a:pt x="4257675" y="4552950"/>
                </a:lnTo>
                <a:lnTo>
                  <a:pt x="19050" y="4552950"/>
                </a:lnTo>
                <a:lnTo>
                  <a:pt x="19050" y="4552950"/>
                </a:lnTo>
              </a:path>
            </a:pathLst>
          </a:custGeom>
          <a:noFill/>
          <a:ln w="603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77">
              <a:solidFill>
                <a:srgbClr val="000000"/>
              </a:solidFill>
            </a:endParaRPr>
          </a:p>
        </p:txBody>
      </p:sp>
      <p:sp>
        <p:nvSpPr>
          <p:cNvPr id="263" name="Rectangle 3"/>
          <p:cNvSpPr>
            <a:spLocks noChangeArrowheads="1"/>
          </p:cNvSpPr>
          <p:nvPr/>
        </p:nvSpPr>
        <p:spPr bwMode="gray">
          <a:xfrm>
            <a:off x="1077693" y="1220643"/>
            <a:ext cx="3719864" cy="141577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lvl="1" indent="-264502">
              <a:spcAft>
                <a:spcPts val="12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Уровень производительности 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сопоставим с ТОП-30 странами</a:t>
            </a:r>
          </a:p>
          <a:p>
            <a:pPr lvl="1" indent="-264502">
              <a:spcAft>
                <a:spcPts val="12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Конкурентоспособные экспортные производства</a:t>
            </a:r>
            <a:endParaRPr lang="ru-RU" sz="1200" dirty="0">
              <a:latin typeface="Segoe UI" panose="020B0502040204020203" pitchFamily="34" charset="0"/>
              <a:ea typeface="Tahoma"/>
              <a:cs typeface="Tahoma"/>
            </a:endParaRPr>
          </a:p>
          <a:p>
            <a:pPr lvl="1" indent="-264502">
              <a:spcAft>
                <a:spcPts val="12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Существенный рост капитализации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 компаний </a:t>
            </a:r>
            <a:r>
              <a:rPr lang="ru-RU" sz="1200" dirty="0" err="1">
                <a:latin typeface="Segoe UI" panose="020B0502040204020203" pitchFamily="34" charset="0"/>
                <a:ea typeface="Tahoma"/>
                <a:cs typeface="Tahoma"/>
              </a:rPr>
              <a:t>РК</a:t>
            </a:r>
            <a:endParaRPr lang="ru-RU" sz="1200" dirty="0">
              <a:latin typeface="Segoe UI" panose="020B0502040204020203" pitchFamily="34" charset="0"/>
              <a:ea typeface="Tahoma"/>
              <a:cs typeface="Tahoma"/>
            </a:endParaRPr>
          </a:p>
        </p:txBody>
      </p:sp>
      <p:sp>
        <p:nvSpPr>
          <p:cNvPr id="265" name="Rectangle 2"/>
          <p:cNvSpPr>
            <a:spLocks noChangeArrowheads="1"/>
          </p:cNvSpPr>
          <p:nvPr/>
        </p:nvSpPr>
        <p:spPr bwMode="gray">
          <a:xfrm>
            <a:off x="1092965" y="802212"/>
            <a:ext cx="318516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>
            <a:spAutoFit/>
          </a:bodyPr>
          <a:lstStyle/>
          <a:p>
            <a:pPr algn="ctr"/>
            <a:r>
              <a:rPr lang="ru-RU" sz="1600" b="1" dirty="0">
                <a:solidFill>
                  <a:srgbClr val="1F497D"/>
                </a:solidFill>
                <a:latin typeface="Tahoma"/>
                <a:ea typeface="Tahoma"/>
                <a:cs typeface="Tahoma"/>
                <a:sym typeface="Tahoma"/>
              </a:rPr>
              <a:t>Целевое видение к 2025 году</a:t>
            </a:r>
          </a:p>
        </p:txBody>
      </p:sp>
      <p:sp>
        <p:nvSpPr>
          <p:cNvPr id="26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121433" y="115772"/>
            <a:ext cx="7000591" cy="825522"/>
          </a:xfrm>
          <a:prstGeom prst="rect">
            <a:avLst/>
          </a:prstGeom>
        </p:spPr>
        <p:txBody>
          <a:bodyPr vert="horz" lIns="0" tIns="76421" rIns="0" bIns="76421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 smtClean="0">
                <a:solidFill>
                  <a:srgbClr val="C00000"/>
                </a:solidFill>
                <a:latin typeface="+mn-lt"/>
              </a:rPr>
              <a:t>НАПРАВЛЕНИЕ 1: </a:t>
            </a:r>
          </a:p>
          <a:p>
            <a:pPr algn="l"/>
            <a:r>
              <a:rPr lang="ru-RU" sz="1200" b="1" dirty="0" smtClean="0">
                <a:solidFill>
                  <a:srgbClr val="C00000"/>
                </a:solidFill>
                <a:latin typeface="+mn-lt"/>
              </a:rPr>
              <a:t>ЦИФРОВИЗАЦИЯ ОТРАСЛЕЙ ЭКОНОМИКИ</a:t>
            </a:r>
            <a:endParaRPr lang="ru-RU" altLang="ru-RU" sz="1200" b="1" dirty="0">
              <a:solidFill>
                <a:srgbClr val="C00000"/>
              </a:solidFill>
              <a:latin typeface="+mn-lt"/>
              <a:cs typeface="Segoe UI" panose="020B0502040204020203" pitchFamily="34" charset="0"/>
            </a:endParaRPr>
          </a:p>
        </p:txBody>
      </p:sp>
      <p:grpSp>
        <p:nvGrpSpPr>
          <p:cNvPr id="267" name="Группа 266"/>
          <p:cNvGrpSpPr/>
          <p:nvPr/>
        </p:nvGrpSpPr>
        <p:grpSpPr>
          <a:xfrm>
            <a:off x="0" y="153872"/>
            <a:ext cx="1021080" cy="612870"/>
            <a:chOff x="0" y="132597"/>
            <a:chExt cx="1021080" cy="612870"/>
          </a:xfrm>
        </p:grpSpPr>
        <p:grpSp>
          <p:nvGrpSpPr>
            <p:cNvPr id="268" name="Группа 267"/>
            <p:cNvGrpSpPr/>
            <p:nvPr/>
          </p:nvGrpSpPr>
          <p:grpSpPr>
            <a:xfrm>
              <a:off x="0" y="132597"/>
              <a:ext cx="1021080" cy="612870"/>
              <a:chOff x="0" y="189781"/>
              <a:chExt cx="948905" cy="517586"/>
            </a:xfrm>
            <a:solidFill>
              <a:schemeClr val="bg1">
                <a:lumMod val="95000"/>
              </a:schemeClr>
            </a:solidFill>
          </p:grpSpPr>
          <p:sp>
            <p:nvSpPr>
              <p:cNvPr id="270" name="Прямоугольник 269"/>
              <p:cNvSpPr/>
              <p:nvPr/>
            </p:nvSpPr>
            <p:spPr>
              <a:xfrm>
                <a:off x="0" y="189781"/>
                <a:ext cx="690113" cy="51758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1" name="Скругленный прямоугольник 270"/>
              <p:cNvSpPr/>
              <p:nvPr/>
            </p:nvSpPr>
            <p:spPr>
              <a:xfrm>
                <a:off x="431320" y="189782"/>
                <a:ext cx="517585" cy="51758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pic>
          <p:nvPicPr>
            <p:cNvPr id="269" name="Рисунок 268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245" y="207844"/>
              <a:ext cx="593763" cy="458817"/>
            </a:xfrm>
            <a:prstGeom prst="rect">
              <a:avLst/>
            </a:prstGeom>
          </p:spPr>
        </p:pic>
      </p:grpSp>
      <p:grpSp>
        <p:nvGrpSpPr>
          <p:cNvPr id="255" name="Group 197"/>
          <p:cNvGrpSpPr/>
          <p:nvPr/>
        </p:nvGrpSpPr>
        <p:grpSpPr>
          <a:xfrm>
            <a:off x="4346496" y="528533"/>
            <a:ext cx="589301" cy="587947"/>
            <a:chOff x="2776538" y="5208588"/>
            <a:chExt cx="690563" cy="688975"/>
          </a:xfrm>
          <a:solidFill>
            <a:schemeClr val="tx2"/>
          </a:solidFill>
        </p:grpSpPr>
        <p:sp>
          <p:nvSpPr>
            <p:cNvPr id="256" name="Freeform 368"/>
            <p:cNvSpPr>
              <a:spLocks/>
            </p:cNvSpPr>
            <p:nvPr/>
          </p:nvSpPr>
          <p:spPr bwMode="auto">
            <a:xfrm>
              <a:off x="2971801" y="5403850"/>
              <a:ext cx="330200" cy="330200"/>
            </a:xfrm>
            <a:custGeom>
              <a:avLst/>
              <a:gdLst/>
              <a:ahLst/>
              <a:cxnLst>
                <a:cxn ang="0">
                  <a:pos x="42" y="57"/>
                </a:cxn>
                <a:cxn ang="0">
                  <a:pos x="33" y="54"/>
                </a:cxn>
                <a:cxn ang="0">
                  <a:pos x="14" y="36"/>
                </a:cxn>
                <a:cxn ang="0">
                  <a:pos x="1" y="36"/>
                </a:cxn>
                <a:cxn ang="0">
                  <a:pos x="0" y="44"/>
                </a:cxn>
                <a:cxn ang="0">
                  <a:pos x="44" y="88"/>
                </a:cxn>
                <a:cxn ang="0">
                  <a:pos x="88" y="44"/>
                </a:cxn>
                <a:cxn ang="0">
                  <a:pos x="44" y="0"/>
                </a:cxn>
                <a:cxn ang="0">
                  <a:pos x="36" y="1"/>
                </a:cxn>
                <a:cxn ang="0">
                  <a:pos x="36" y="14"/>
                </a:cxn>
                <a:cxn ang="0">
                  <a:pos x="54" y="33"/>
                </a:cxn>
                <a:cxn ang="0">
                  <a:pos x="57" y="42"/>
                </a:cxn>
                <a:cxn ang="0">
                  <a:pos x="42" y="57"/>
                </a:cxn>
              </a:cxnLst>
              <a:rect l="0" t="0" r="r" b="b"/>
              <a:pathLst>
                <a:path w="88" h="88">
                  <a:moveTo>
                    <a:pt x="42" y="57"/>
                  </a:moveTo>
                  <a:cubicBezTo>
                    <a:pt x="38" y="57"/>
                    <a:pt x="35" y="56"/>
                    <a:pt x="33" y="54"/>
                  </a:cubicBezTo>
                  <a:cubicBezTo>
                    <a:pt x="33" y="54"/>
                    <a:pt x="14" y="36"/>
                    <a:pt x="14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9"/>
                    <a:pt x="0" y="41"/>
                    <a:pt x="0" y="44"/>
                  </a:cubicBezTo>
                  <a:cubicBezTo>
                    <a:pt x="0" y="68"/>
                    <a:pt x="20" y="88"/>
                    <a:pt x="44" y="88"/>
                  </a:cubicBezTo>
                  <a:cubicBezTo>
                    <a:pt x="68" y="88"/>
                    <a:pt x="88" y="68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ubicBezTo>
                    <a:pt x="41" y="0"/>
                    <a:pt x="39" y="0"/>
                    <a:pt x="36" y="1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54" y="32"/>
                    <a:pt x="54" y="33"/>
                  </a:cubicBezTo>
                  <a:cubicBezTo>
                    <a:pt x="56" y="35"/>
                    <a:pt x="57" y="39"/>
                    <a:pt x="57" y="42"/>
                  </a:cubicBezTo>
                  <a:cubicBezTo>
                    <a:pt x="57" y="50"/>
                    <a:pt x="50" y="57"/>
                    <a:pt x="42" y="57"/>
                  </a:cubicBez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  <p:sp>
          <p:nvSpPr>
            <p:cNvPr id="257" name="Freeform 369"/>
            <p:cNvSpPr>
              <a:spLocks/>
            </p:cNvSpPr>
            <p:nvPr/>
          </p:nvSpPr>
          <p:spPr bwMode="auto">
            <a:xfrm>
              <a:off x="2806701" y="5238750"/>
              <a:ext cx="660400" cy="658813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53" y="7"/>
                </a:cxn>
                <a:cxn ang="0">
                  <a:pos x="68" y="22"/>
                </a:cxn>
                <a:cxn ang="0">
                  <a:pos x="88" y="19"/>
                </a:cxn>
                <a:cxn ang="0">
                  <a:pos x="157" y="88"/>
                </a:cxn>
                <a:cxn ang="0">
                  <a:pos x="88" y="157"/>
                </a:cxn>
                <a:cxn ang="0">
                  <a:pos x="19" y="88"/>
                </a:cxn>
                <a:cxn ang="0">
                  <a:pos x="22" y="68"/>
                </a:cxn>
                <a:cxn ang="0">
                  <a:pos x="7" y="53"/>
                </a:cxn>
                <a:cxn ang="0">
                  <a:pos x="0" y="88"/>
                </a:cxn>
                <a:cxn ang="0">
                  <a:pos x="88" y="176"/>
                </a:cxn>
                <a:cxn ang="0">
                  <a:pos x="176" y="88"/>
                </a:cxn>
                <a:cxn ang="0">
                  <a:pos x="88" y="0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76" y="0"/>
                    <a:pt x="64" y="3"/>
                    <a:pt x="53" y="7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75" y="20"/>
                    <a:pt x="81" y="19"/>
                    <a:pt x="88" y="19"/>
                  </a:cubicBezTo>
                  <a:cubicBezTo>
                    <a:pt x="126" y="19"/>
                    <a:pt x="157" y="50"/>
                    <a:pt x="157" y="88"/>
                  </a:cubicBezTo>
                  <a:cubicBezTo>
                    <a:pt x="157" y="126"/>
                    <a:pt x="126" y="157"/>
                    <a:pt x="88" y="157"/>
                  </a:cubicBezTo>
                  <a:cubicBezTo>
                    <a:pt x="50" y="157"/>
                    <a:pt x="19" y="126"/>
                    <a:pt x="19" y="88"/>
                  </a:cubicBezTo>
                  <a:cubicBezTo>
                    <a:pt x="19" y="81"/>
                    <a:pt x="20" y="75"/>
                    <a:pt x="22" y="68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3" y="64"/>
                    <a:pt x="0" y="76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  <p:sp>
          <p:nvSpPr>
            <p:cNvPr id="258" name="Freeform 370"/>
            <p:cNvSpPr>
              <a:spLocks/>
            </p:cNvSpPr>
            <p:nvPr/>
          </p:nvSpPr>
          <p:spPr bwMode="auto">
            <a:xfrm>
              <a:off x="2776538" y="5208588"/>
              <a:ext cx="379413" cy="377825"/>
            </a:xfrm>
            <a:custGeom>
              <a:avLst/>
              <a:gdLst/>
              <a:ahLst/>
              <a:cxnLst>
                <a:cxn ang="0">
                  <a:pos x="70" y="80"/>
                </a:cxn>
                <a:cxn ang="0">
                  <a:pos x="90" y="100"/>
                </a:cxn>
                <a:cxn ang="0">
                  <a:pos x="94" y="101"/>
                </a:cxn>
                <a:cxn ang="0">
                  <a:pos x="101" y="94"/>
                </a:cxn>
                <a:cxn ang="0">
                  <a:pos x="100" y="90"/>
                </a:cxn>
                <a:cxn ang="0">
                  <a:pos x="80" y="70"/>
                </a:cxn>
                <a:cxn ang="0">
                  <a:pos x="80" y="46"/>
                </a:cxn>
                <a:cxn ang="0">
                  <a:pos x="32" y="0"/>
                </a:cxn>
                <a:cxn ang="0">
                  <a:pos x="32" y="32"/>
                </a:cxn>
                <a:cxn ang="0">
                  <a:pos x="0" y="32"/>
                </a:cxn>
                <a:cxn ang="0">
                  <a:pos x="46" y="80"/>
                </a:cxn>
                <a:cxn ang="0">
                  <a:pos x="70" y="80"/>
                </a:cxn>
              </a:cxnLst>
              <a:rect l="0" t="0" r="r" b="b"/>
              <a:pathLst>
                <a:path w="101" h="101">
                  <a:moveTo>
                    <a:pt x="70" y="80"/>
                  </a:moveTo>
                  <a:cubicBezTo>
                    <a:pt x="90" y="100"/>
                    <a:pt x="90" y="100"/>
                    <a:pt x="90" y="100"/>
                  </a:cubicBezTo>
                  <a:cubicBezTo>
                    <a:pt x="91" y="101"/>
                    <a:pt x="93" y="101"/>
                    <a:pt x="94" y="101"/>
                  </a:cubicBezTo>
                  <a:cubicBezTo>
                    <a:pt x="98" y="101"/>
                    <a:pt x="101" y="98"/>
                    <a:pt x="101" y="94"/>
                  </a:cubicBezTo>
                  <a:cubicBezTo>
                    <a:pt x="101" y="93"/>
                    <a:pt x="101" y="91"/>
                    <a:pt x="100" y="9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46" y="80"/>
                    <a:pt x="46" y="80"/>
                    <a:pt x="46" y="80"/>
                  </a:cubicBezTo>
                  <a:lnTo>
                    <a:pt x="70" y="80"/>
                  </a:ln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8B60117-E08C-411B-B297-28158E1E1368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1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6457505" y="237314"/>
            <a:ext cx="2751320" cy="708151"/>
          </a:xfrm>
          <a:prstGeom prst="rect">
            <a:avLst/>
          </a:prstGeom>
        </p:spPr>
        <p:txBody>
          <a:bodyPr vert="horz" lIns="0" tIns="76421" rIns="0" bIns="76421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 smtClean="0">
                <a:solidFill>
                  <a:srgbClr val="C00000"/>
                </a:solidFill>
                <a:latin typeface="+mn-lt"/>
              </a:rPr>
              <a:t>НАПРАВЛЕНИЕ 2: </a:t>
            </a:r>
          </a:p>
          <a:p>
            <a:pPr algn="l"/>
            <a:r>
              <a:rPr lang="ru-RU" sz="1200" b="1" dirty="0" smtClean="0">
                <a:solidFill>
                  <a:srgbClr val="C00000"/>
                </a:solidFill>
                <a:latin typeface="+mn-lt"/>
              </a:rPr>
              <a:t>ПЕРЕХОД НА ЦИФРОВОЕ ГОСУДАРСТВО</a:t>
            </a:r>
            <a:endParaRPr lang="ru-RU" altLang="ru-RU" sz="1200" b="1" dirty="0">
              <a:solidFill>
                <a:srgbClr val="C00000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2" name="Rectangle 7"/>
          <p:cNvSpPr/>
          <p:nvPr/>
        </p:nvSpPr>
        <p:spPr>
          <a:xfrm>
            <a:off x="6314626" y="830174"/>
            <a:ext cx="4032125" cy="214449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31000"/>
                </a:schemeClr>
              </a:gs>
            </a:gsLst>
            <a:lin ang="0" scaled="1"/>
            <a:tileRect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2304" bIns="62304" rtlCol="0" anchor="ctr" anchorCtr="0"/>
          <a:lstStyle/>
          <a:p>
            <a:pPr algn="ctr"/>
            <a:endParaRPr lang="ru-RU" sz="969" dirty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23" name="Group 197"/>
          <p:cNvGrpSpPr/>
          <p:nvPr/>
        </p:nvGrpSpPr>
        <p:grpSpPr>
          <a:xfrm>
            <a:off x="9757450" y="682970"/>
            <a:ext cx="589301" cy="587947"/>
            <a:chOff x="2776538" y="5208588"/>
            <a:chExt cx="690563" cy="688975"/>
          </a:xfrm>
          <a:solidFill>
            <a:schemeClr val="tx2"/>
          </a:solidFill>
        </p:grpSpPr>
        <p:sp>
          <p:nvSpPr>
            <p:cNvPr id="24" name="Freeform 368"/>
            <p:cNvSpPr>
              <a:spLocks/>
            </p:cNvSpPr>
            <p:nvPr/>
          </p:nvSpPr>
          <p:spPr bwMode="auto">
            <a:xfrm>
              <a:off x="2971801" y="5403850"/>
              <a:ext cx="330200" cy="330200"/>
            </a:xfrm>
            <a:custGeom>
              <a:avLst/>
              <a:gdLst/>
              <a:ahLst/>
              <a:cxnLst>
                <a:cxn ang="0">
                  <a:pos x="42" y="57"/>
                </a:cxn>
                <a:cxn ang="0">
                  <a:pos x="33" y="54"/>
                </a:cxn>
                <a:cxn ang="0">
                  <a:pos x="14" y="36"/>
                </a:cxn>
                <a:cxn ang="0">
                  <a:pos x="1" y="36"/>
                </a:cxn>
                <a:cxn ang="0">
                  <a:pos x="0" y="44"/>
                </a:cxn>
                <a:cxn ang="0">
                  <a:pos x="44" y="88"/>
                </a:cxn>
                <a:cxn ang="0">
                  <a:pos x="88" y="44"/>
                </a:cxn>
                <a:cxn ang="0">
                  <a:pos x="44" y="0"/>
                </a:cxn>
                <a:cxn ang="0">
                  <a:pos x="36" y="1"/>
                </a:cxn>
                <a:cxn ang="0">
                  <a:pos x="36" y="14"/>
                </a:cxn>
                <a:cxn ang="0">
                  <a:pos x="54" y="33"/>
                </a:cxn>
                <a:cxn ang="0">
                  <a:pos x="57" y="42"/>
                </a:cxn>
                <a:cxn ang="0">
                  <a:pos x="42" y="57"/>
                </a:cxn>
              </a:cxnLst>
              <a:rect l="0" t="0" r="r" b="b"/>
              <a:pathLst>
                <a:path w="88" h="88">
                  <a:moveTo>
                    <a:pt x="42" y="57"/>
                  </a:moveTo>
                  <a:cubicBezTo>
                    <a:pt x="38" y="57"/>
                    <a:pt x="35" y="56"/>
                    <a:pt x="33" y="54"/>
                  </a:cubicBezTo>
                  <a:cubicBezTo>
                    <a:pt x="33" y="54"/>
                    <a:pt x="14" y="36"/>
                    <a:pt x="14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9"/>
                    <a:pt x="0" y="41"/>
                    <a:pt x="0" y="44"/>
                  </a:cubicBezTo>
                  <a:cubicBezTo>
                    <a:pt x="0" y="68"/>
                    <a:pt x="20" y="88"/>
                    <a:pt x="44" y="88"/>
                  </a:cubicBezTo>
                  <a:cubicBezTo>
                    <a:pt x="68" y="88"/>
                    <a:pt x="88" y="68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ubicBezTo>
                    <a:pt x="41" y="0"/>
                    <a:pt x="39" y="0"/>
                    <a:pt x="36" y="1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54" y="32"/>
                    <a:pt x="54" y="33"/>
                  </a:cubicBezTo>
                  <a:cubicBezTo>
                    <a:pt x="56" y="35"/>
                    <a:pt x="57" y="39"/>
                    <a:pt x="57" y="42"/>
                  </a:cubicBezTo>
                  <a:cubicBezTo>
                    <a:pt x="57" y="50"/>
                    <a:pt x="50" y="57"/>
                    <a:pt x="42" y="57"/>
                  </a:cubicBez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  <p:sp>
          <p:nvSpPr>
            <p:cNvPr id="25" name="Freeform 369"/>
            <p:cNvSpPr>
              <a:spLocks/>
            </p:cNvSpPr>
            <p:nvPr/>
          </p:nvSpPr>
          <p:spPr bwMode="auto">
            <a:xfrm>
              <a:off x="2806701" y="5238750"/>
              <a:ext cx="660400" cy="658813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53" y="7"/>
                </a:cxn>
                <a:cxn ang="0">
                  <a:pos x="68" y="22"/>
                </a:cxn>
                <a:cxn ang="0">
                  <a:pos x="88" y="19"/>
                </a:cxn>
                <a:cxn ang="0">
                  <a:pos x="157" y="88"/>
                </a:cxn>
                <a:cxn ang="0">
                  <a:pos x="88" y="157"/>
                </a:cxn>
                <a:cxn ang="0">
                  <a:pos x="19" y="88"/>
                </a:cxn>
                <a:cxn ang="0">
                  <a:pos x="22" y="68"/>
                </a:cxn>
                <a:cxn ang="0">
                  <a:pos x="7" y="53"/>
                </a:cxn>
                <a:cxn ang="0">
                  <a:pos x="0" y="88"/>
                </a:cxn>
                <a:cxn ang="0">
                  <a:pos x="88" y="176"/>
                </a:cxn>
                <a:cxn ang="0">
                  <a:pos x="176" y="88"/>
                </a:cxn>
                <a:cxn ang="0">
                  <a:pos x="88" y="0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76" y="0"/>
                    <a:pt x="64" y="3"/>
                    <a:pt x="53" y="7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75" y="20"/>
                    <a:pt x="81" y="19"/>
                    <a:pt x="88" y="19"/>
                  </a:cubicBezTo>
                  <a:cubicBezTo>
                    <a:pt x="126" y="19"/>
                    <a:pt x="157" y="50"/>
                    <a:pt x="157" y="88"/>
                  </a:cubicBezTo>
                  <a:cubicBezTo>
                    <a:pt x="157" y="126"/>
                    <a:pt x="126" y="157"/>
                    <a:pt x="88" y="157"/>
                  </a:cubicBezTo>
                  <a:cubicBezTo>
                    <a:pt x="50" y="157"/>
                    <a:pt x="19" y="126"/>
                    <a:pt x="19" y="88"/>
                  </a:cubicBezTo>
                  <a:cubicBezTo>
                    <a:pt x="19" y="81"/>
                    <a:pt x="20" y="75"/>
                    <a:pt x="22" y="68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3" y="64"/>
                    <a:pt x="0" y="76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  <p:sp>
          <p:nvSpPr>
            <p:cNvPr id="26" name="Freeform 370"/>
            <p:cNvSpPr>
              <a:spLocks/>
            </p:cNvSpPr>
            <p:nvPr/>
          </p:nvSpPr>
          <p:spPr bwMode="auto">
            <a:xfrm>
              <a:off x="2776538" y="5208588"/>
              <a:ext cx="379413" cy="377825"/>
            </a:xfrm>
            <a:custGeom>
              <a:avLst/>
              <a:gdLst/>
              <a:ahLst/>
              <a:cxnLst>
                <a:cxn ang="0">
                  <a:pos x="70" y="80"/>
                </a:cxn>
                <a:cxn ang="0">
                  <a:pos x="90" y="100"/>
                </a:cxn>
                <a:cxn ang="0">
                  <a:pos x="94" y="101"/>
                </a:cxn>
                <a:cxn ang="0">
                  <a:pos x="101" y="94"/>
                </a:cxn>
                <a:cxn ang="0">
                  <a:pos x="100" y="90"/>
                </a:cxn>
                <a:cxn ang="0">
                  <a:pos x="80" y="70"/>
                </a:cxn>
                <a:cxn ang="0">
                  <a:pos x="80" y="46"/>
                </a:cxn>
                <a:cxn ang="0">
                  <a:pos x="32" y="0"/>
                </a:cxn>
                <a:cxn ang="0">
                  <a:pos x="32" y="32"/>
                </a:cxn>
                <a:cxn ang="0">
                  <a:pos x="0" y="32"/>
                </a:cxn>
                <a:cxn ang="0">
                  <a:pos x="46" y="80"/>
                </a:cxn>
                <a:cxn ang="0">
                  <a:pos x="70" y="80"/>
                </a:cxn>
              </a:cxnLst>
              <a:rect l="0" t="0" r="r" b="b"/>
              <a:pathLst>
                <a:path w="101" h="101">
                  <a:moveTo>
                    <a:pt x="70" y="80"/>
                  </a:moveTo>
                  <a:cubicBezTo>
                    <a:pt x="90" y="100"/>
                    <a:pt x="90" y="100"/>
                    <a:pt x="90" y="100"/>
                  </a:cubicBezTo>
                  <a:cubicBezTo>
                    <a:pt x="91" y="101"/>
                    <a:pt x="93" y="101"/>
                    <a:pt x="94" y="101"/>
                  </a:cubicBezTo>
                  <a:cubicBezTo>
                    <a:pt x="98" y="101"/>
                    <a:pt x="101" y="98"/>
                    <a:pt x="101" y="94"/>
                  </a:cubicBezTo>
                  <a:cubicBezTo>
                    <a:pt x="101" y="93"/>
                    <a:pt x="101" y="91"/>
                    <a:pt x="100" y="9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46" y="80"/>
                    <a:pt x="46" y="80"/>
                    <a:pt x="46" y="80"/>
                  </a:cubicBezTo>
                  <a:lnTo>
                    <a:pt x="70" y="80"/>
                  </a:ln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</p:grpSp>
      <p:sp>
        <p:nvSpPr>
          <p:cNvPr id="27" name="Rectangle 3"/>
          <p:cNvSpPr>
            <a:spLocks noChangeArrowheads="1"/>
          </p:cNvSpPr>
          <p:nvPr/>
        </p:nvSpPr>
        <p:spPr bwMode="gray">
          <a:xfrm>
            <a:off x="6426122" y="1148553"/>
            <a:ext cx="3457994" cy="17543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lvl="1" indent="-264502">
              <a:spcAft>
                <a:spcPts val="18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Гос.</a:t>
            </a:r>
            <a:r>
              <a:rPr lang="en-US" sz="1200" b="1" dirty="0">
                <a:latin typeface="Segoe UI" panose="020B0502040204020203" pitchFamily="34" charset="0"/>
                <a:ea typeface="Tahoma"/>
                <a:cs typeface="Tahoma"/>
              </a:rPr>
              <a:t> </a:t>
            </a: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услуги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 предоставляются преимущественно в электронном формате </a:t>
            </a:r>
          </a:p>
          <a:p>
            <a:pPr lvl="1" indent="-264502">
              <a:spcAft>
                <a:spcPts val="18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Бумажный документооборот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 во внутренней деятельности гос. органов </a:t>
            </a: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минимизирован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 </a:t>
            </a:r>
            <a:endParaRPr lang="ru-RU" sz="1200" b="1" dirty="0">
              <a:solidFill>
                <a:srgbClr val="FF0000"/>
              </a:solidFill>
              <a:latin typeface="Segoe UI" panose="020B0502040204020203" pitchFamily="34" charset="0"/>
              <a:ea typeface="Tahoma"/>
              <a:cs typeface="Tahoma"/>
            </a:endParaRPr>
          </a:p>
          <a:p>
            <a:pPr lvl="1" indent="-264502">
              <a:spcAft>
                <a:spcPts val="18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b="1" dirty="0" err="1">
                <a:latin typeface="Segoe UI" panose="020B0502040204020203" pitchFamily="34" charset="0"/>
                <a:ea typeface="Tahoma"/>
                <a:cs typeface="Tahoma"/>
              </a:rPr>
              <a:t>Проактивное</a:t>
            </a: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 обслуживание 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населения</a:t>
            </a: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gray">
          <a:xfrm>
            <a:off x="6464051" y="856235"/>
            <a:ext cx="318516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>
            <a:spAutoFit/>
          </a:bodyPr>
          <a:lstStyle/>
          <a:p>
            <a:pPr algn="ctr"/>
            <a:r>
              <a:rPr lang="ru-RU" sz="1600" b="1" dirty="0">
                <a:solidFill>
                  <a:srgbClr val="1F497D"/>
                </a:solidFill>
                <a:latin typeface="Tahoma"/>
                <a:ea typeface="Tahoma"/>
                <a:cs typeface="Tahoma"/>
                <a:sym typeface="Tahoma"/>
              </a:rPr>
              <a:t>Целевое видение к 2025 году</a:t>
            </a:r>
          </a:p>
        </p:txBody>
      </p:sp>
      <p:sp>
        <p:nvSpPr>
          <p:cNvPr id="30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159378" y="3345570"/>
            <a:ext cx="3185166" cy="708151"/>
          </a:xfrm>
          <a:prstGeom prst="rect">
            <a:avLst/>
          </a:prstGeom>
        </p:spPr>
        <p:txBody>
          <a:bodyPr vert="horz" lIns="0" tIns="76421" rIns="0" bIns="76421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НАПРАВЛЕНИЕ 3: </a:t>
            </a:r>
          </a:p>
          <a:p>
            <a:pPr algn="l"/>
            <a:r>
              <a:rPr lang="ru-RU" sz="12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РЕАЛИЗАЦИЯ ЦИФРОВОГО ШЕЛКОВОГО ПУТИ</a:t>
            </a:r>
            <a:endParaRPr lang="ru-RU" sz="12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 7"/>
          <p:cNvSpPr/>
          <p:nvPr/>
        </p:nvSpPr>
        <p:spPr>
          <a:xfrm>
            <a:off x="863892" y="3889355"/>
            <a:ext cx="4279638" cy="2016111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49000"/>
                </a:schemeClr>
              </a:gs>
            </a:gsLst>
            <a:lin ang="0" scaled="1"/>
            <a:tileRect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2304" bIns="62304" rtlCol="0" anchor="ctr" anchorCtr="0"/>
          <a:lstStyle/>
          <a:p>
            <a:pPr algn="ctr"/>
            <a:endParaRPr lang="ru-RU" sz="969" dirty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32" name="Group 197"/>
          <p:cNvGrpSpPr/>
          <p:nvPr/>
        </p:nvGrpSpPr>
        <p:grpSpPr>
          <a:xfrm>
            <a:off x="4419469" y="3606772"/>
            <a:ext cx="589301" cy="587947"/>
            <a:chOff x="2776538" y="5208588"/>
            <a:chExt cx="690563" cy="688975"/>
          </a:xfrm>
          <a:solidFill>
            <a:schemeClr val="tx2"/>
          </a:solidFill>
        </p:grpSpPr>
        <p:sp>
          <p:nvSpPr>
            <p:cNvPr id="33" name="Freeform 368"/>
            <p:cNvSpPr>
              <a:spLocks/>
            </p:cNvSpPr>
            <p:nvPr/>
          </p:nvSpPr>
          <p:spPr bwMode="auto">
            <a:xfrm>
              <a:off x="2971801" y="5403850"/>
              <a:ext cx="330200" cy="330200"/>
            </a:xfrm>
            <a:custGeom>
              <a:avLst/>
              <a:gdLst/>
              <a:ahLst/>
              <a:cxnLst>
                <a:cxn ang="0">
                  <a:pos x="42" y="57"/>
                </a:cxn>
                <a:cxn ang="0">
                  <a:pos x="33" y="54"/>
                </a:cxn>
                <a:cxn ang="0">
                  <a:pos x="14" y="36"/>
                </a:cxn>
                <a:cxn ang="0">
                  <a:pos x="1" y="36"/>
                </a:cxn>
                <a:cxn ang="0">
                  <a:pos x="0" y="44"/>
                </a:cxn>
                <a:cxn ang="0">
                  <a:pos x="44" y="88"/>
                </a:cxn>
                <a:cxn ang="0">
                  <a:pos x="88" y="44"/>
                </a:cxn>
                <a:cxn ang="0">
                  <a:pos x="44" y="0"/>
                </a:cxn>
                <a:cxn ang="0">
                  <a:pos x="36" y="1"/>
                </a:cxn>
                <a:cxn ang="0">
                  <a:pos x="36" y="14"/>
                </a:cxn>
                <a:cxn ang="0">
                  <a:pos x="54" y="33"/>
                </a:cxn>
                <a:cxn ang="0">
                  <a:pos x="57" y="42"/>
                </a:cxn>
                <a:cxn ang="0">
                  <a:pos x="42" y="57"/>
                </a:cxn>
              </a:cxnLst>
              <a:rect l="0" t="0" r="r" b="b"/>
              <a:pathLst>
                <a:path w="88" h="88">
                  <a:moveTo>
                    <a:pt x="42" y="57"/>
                  </a:moveTo>
                  <a:cubicBezTo>
                    <a:pt x="38" y="57"/>
                    <a:pt x="35" y="56"/>
                    <a:pt x="33" y="54"/>
                  </a:cubicBezTo>
                  <a:cubicBezTo>
                    <a:pt x="33" y="54"/>
                    <a:pt x="14" y="36"/>
                    <a:pt x="14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9"/>
                    <a:pt x="0" y="41"/>
                    <a:pt x="0" y="44"/>
                  </a:cubicBezTo>
                  <a:cubicBezTo>
                    <a:pt x="0" y="68"/>
                    <a:pt x="20" y="88"/>
                    <a:pt x="44" y="88"/>
                  </a:cubicBezTo>
                  <a:cubicBezTo>
                    <a:pt x="68" y="88"/>
                    <a:pt x="88" y="68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ubicBezTo>
                    <a:pt x="41" y="0"/>
                    <a:pt x="39" y="0"/>
                    <a:pt x="36" y="1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54" y="32"/>
                    <a:pt x="54" y="33"/>
                  </a:cubicBezTo>
                  <a:cubicBezTo>
                    <a:pt x="56" y="35"/>
                    <a:pt x="57" y="39"/>
                    <a:pt x="57" y="42"/>
                  </a:cubicBezTo>
                  <a:cubicBezTo>
                    <a:pt x="57" y="50"/>
                    <a:pt x="50" y="57"/>
                    <a:pt x="42" y="57"/>
                  </a:cubicBez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  <p:sp>
          <p:nvSpPr>
            <p:cNvPr id="34" name="Freeform 369"/>
            <p:cNvSpPr>
              <a:spLocks/>
            </p:cNvSpPr>
            <p:nvPr/>
          </p:nvSpPr>
          <p:spPr bwMode="auto">
            <a:xfrm>
              <a:off x="2806701" y="5238750"/>
              <a:ext cx="660400" cy="658813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53" y="7"/>
                </a:cxn>
                <a:cxn ang="0">
                  <a:pos x="68" y="22"/>
                </a:cxn>
                <a:cxn ang="0">
                  <a:pos x="88" y="19"/>
                </a:cxn>
                <a:cxn ang="0">
                  <a:pos x="157" y="88"/>
                </a:cxn>
                <a:cxn ang="0">
                  <a:pos x="88" y="157"/>
                </a:cxn>
                <a:cxn ang="0">
                  <a:pos x="19" y="88"/>
                </a:cxn>
                <a:cxn ang="0">
                  <a:pos x="22" y="68"/>
                </a:cxn>
                <a:cxn ang="0">
                  <a:pos x="7" y="53"/>
                </a:cxn>
                <a:cxn ang="0">
                  <a:pos x="0" y="88"/>
                </a:cxn>
                <a:cxn ang="0">
                  <a:pos x="88" y="176"/>
                </a:cxn>
                <a:cxn ang="0">
                  <a:pos x="176" y="88"/>
                </a:cxn>
                <a:cxn ang="0">
                  <a:pos x="88" y="0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76" y="0"/>
                    <a:pt x="64" y="3"/>
                    <a:pt x="53" y="7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75" y="20"/>
                    <a:pt x="81" y="19"/>
                    <a:pt x="88" y="19"/>
                  </a:cubicBezTo>
                  <a:cubicBezTo>
                    <a:pt x="126" y="19"/>
                    <a:pt x="157" y="50"/>
                    <a:pt x="157" y="88"/>
                  </a:cubicBezTo>
                  <a:cubicBezTo>
                    <a:pt x="157" y="126"/>
                    <a:pt x="126" y="157"/>
                    <a:pt x="88" y="157"/>
                  </a:cubicBezTo>
                  <a:cubicBezTo>
                    <a:pt x="50" y="157"/>
                    <a:pt x="19" y="126"/>
                    <a:pt x="19" y="88"/>
                  </a:cubicBezTo>
                  <a:cubicBezTo>
                    <a:pt x="19" y="81"/>
                    <a:pt x="20" y="75"/>
                    <a:pt x="22" y="68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3" y="64"/>
                    <a:pt x="0" y="76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  <p:sp>
          <p:nvSpPr>
            <p:cNvPr id="35" name="Freeform 370"/>
            <p:cNvSpPr>
              <a:spLocks/>
            </p:cNvSpPr>
            <p:nvPr/>
          </p:nvSpPr>
          <p:spPr bwMode="auto">
            <a:xfrm>
              <a:off x="2776538" y="5208588"/>
              <a:ext cx="379413" cy="377825"/>
            </a:xfrm>
            <a:custGeom>
              <a:avLst/>
              <a:gdLst/>
              <a:ahLst/>
              <a:cxnLst>
                <a:cxn ang="0">
                  <a:pos x="70" y="80"/>
                </a:cxn>
                <a:cxn ang="0">
                  <a:pos x="90" y="100"/>
                </a:cxn>
                <a:cxn ang="0">
                  <a:pos x="94" y="101"/>
                </a:cxn>
                <a:cxn ang="0">
                  <a:pos x="101" y="94"/>
                </a:cxn>
                <a:cxn ang="0">
                  <a:pos x="100" y="90"/>
                </a:cxn>
                <a:cxn ang="0">
                  <a:pos x="80" y="70"/>
                </a:cxn>
                <a:cxn ang="0">
                  <a:pos x="80" y="46"/>
                </a:cxn>
                <a:cxn ang="0">
                  <a:pos x="32" y="0"/>
                </a:cxn>
                <a:cxn ang="0">
                  <a:pos x="32" y="32"/>
                </a:cxn>
                <a:cxn ang="0">
                  <a:pos x="0" y="32"/>
                </a:cxn>
                <a:cxn ang="0">
                  <a:pos x="46" y="80"/>
                </a:cxn>
                <a:cxn ang="0">
                  <a:pos x="70" y="80"/>
                </a:cxn>
              </a:cxnLst>
              <a:rect l="0" t="0" r="r" b="b"/>
              <a:pathLst>
                <a:path w="101" h="101">
                  <a:moveTo>
                    <a:pt x="70" y="80"/>
                  </a:moveTo>
                  <a:cubicBezTo>
                    <a:pt x="90" y="100"/>
                    <a:pt x="90" y="100"/>
                    <a:pt x="90" y="100"/>
                  </a:cubicBezTo>
                  <a:cubicBezTo>
                    <a:pt x="91" y="101"/>
                    <a:pt x="93" y="101"/>
                    <a:pt x="94" y="101"/>
                  </a:cubicBezTo>
                  <a:cubicBezTo>
                    <a:pt x="98" y="101"/>
                    <a:pt x="101" y="98"/>
                    <a:pt x="101" y="94"/>
                  </a:cubicBezTo>
                  <a:cubicBezTo>
                    <a:pt x="101" y="93"/>
                    <a:pt x="101" y="91"/>
                    <a:pt x="100" y="9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46" y="80"/>
                    <a:pt x="46" y="80"/>
                    <a:pt x="46" y="80"/>
                  </a:cubicBezTo>
                  <a:lnTo>
                    <a:pt x="70" y="80"/>
                  </a:ln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</p:grpSp>
      <p:sp>
        <p:nvSpPr>
          <p:cNvPr id="36" name="Rectangle 3"/>
          <p:cNvSpPr>
            <a:spLocks noChangeArrowheads="1"/>
          </p:cNvSpPr>
          <p:nvPr/>
        </p:nvSpPr>
        <p:spPr bwMode="gray">
          <a:xfrm>
            <a:off x="1077693" y="4310670"/>
            <a:ext cx="3457994" cy="12311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lvl="1" indent="-264502">
              <a:spcAft>
                <a:spcPts val="12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Качественное покрытие 4G (в будущем и 5</a:t>
            </a:r>
            <a:r>
              <a:rPr lang="en-US" sz="1200" b="1" dirty="0">
                <a:latin typeface="Segoe UI" panose="020B0502040204020203" pitchFamily="34" charset="0"/>
                <a:ea typeface="Tahoma"/>
                <a:cs typeface="Tahoma"/>
              </a:rPr>
              <a:t>G)</a:t>
            </a:r>
            <a:r>
              <a:rPr lang="en-US" sz="1200" dirty="0">
                <a:latin typeface="Segoe UI" panose="020B0502040204020203" pitchFamily="34" charset="0"/>
                <a:ea typeface="Tahoma"/>
                <a:cs typeface="Tahoma"/>
              </a:rPr>
              <a:t> 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связью населения</a:t>
            </a:r>
          </a:p>
          <a:p>
            <a:pPr lvl="1" indent="-264502">
              <a:spcAft>
                <a:spcPts val="12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Повсеместный и высокоскоростной доступ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 к интернету</a:t>
            </a:r>
          </a:p>
          <a:p>
            <a:pPr lvl="1" indent="-264502">
              <a:spcAft>
                <a:spcPts val="12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Развитая система </a:t>
            </a:r>
            <a:r>
              <a:rPr lang="ru-RU" sz="1200" b="1" dirty="0" err="1">
                <a:latin typeface="Segoe UI" panose="020B0502040204020203" pitchFamily="34" charset="0"/>
                <a:ea typeface="Tahoma"/>
                <a:cs typeface="Tahoma"/>
              </a:rPr>
              <a:t>кибербезопасности</a:t>
            </a:r>
            <a:endParaRPr lang="ru-RU" sz="1200" b="1" dirty="0">
              <a:latin typeface="Segoe UI" panose="020B0502040204020203" pitchFamily="34" charset="0"/>
              <a:ea typeface="Tahoma"/>
              <a:cs typeface="Tahoma"/>
            </a:endParaRPr>
          </a:p>
        </p:txBody>
      </p:sp>
      <p:sp>
        <p:nvSpPr>
          <p:cNvPr id="37" name="Rectangle 2"/>
          <p:cNvSpPr>
            <a:spLocks noChangeArrowheads="1"/>
          </p:cNvSpPr>
          <p:nvPr/>
        </p:nvSpPr>
        <p:spPr bwMode="gray">
          <a:xfrm>
            <a:off x="1134561" y="3929602"/>
            <a:ext cx="318516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>
            <a:spAutoFit/>
          </a:bodyPr>
          <a:lstStyle/>
          <a:p>
            <a:pPr algn="ctr"/>
            <a:r>
              <a:rPr lang="ru-RU" sz="1600" b="1" dirty="0">
                <a:solidFill>
                  <a:srgbClr val="1F497D"/>
                </a:solidFill>
                <a:latin typeface="Tahoma"/>
                <a:ea typeface="Tahoma"/>
                <a:cs typeface="Tahoma"/>
                <a:sym typeface="Tahoma"/>
              </a:rPr>
              <a:t>Целевое видение к 2025 году</a:t>
            </a:r>
          </a:p>
        </p:txBody>
      </p:sp>
      <p:sp>
        <p:nvSpPr>
          <p:cNvPr id="40" name="Rectangle 3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6465897" y="3334824"/>
            <a:ext cx="3588692" cy="708151"/>
          </a:xfrm>
          <a:prstGeom prst="rect">
            <a:avLst/>
          </a:prstGeom>
        </p:spPr>
        <p:txBody>
          <a:bodyPr vert="horz" lIns="0" tIns="76421" rIns="0" bIns="76421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НАПРАВЛЕНИЕ 4: </a:t>
            </a:r>
            <a:br>
              <a:rPr lang="ru-RU" sz="12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2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РАЗВИТИЕ ЧЕЛОВЕЧЕСКОГО КАПИТАЛА</a:t>
            </a:r>
            <a:endParaRPr lang="ru-RU" sz="12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7"/>
          <p:cNvSpPr/>
          <p:nvPr/>
        </p:nvSpPr>
        <p:spPr>
          <a:xfrm>
            <a:off x="6314626" y="3827027"/>
            <a:ext cx="3891235" cy="207843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31000"/>
                </a:schemeClr>
              </a:gs>
            </a:gsLst>
            <a:lin ang="0" scaled="1"/>
            <a:tileRect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2304" bIns="62304" rtlCol="0" anchor="ctr" anchorCtr="0"/>
          <a:lstStyle/>
          <a:p>
            <a:pPr algn="ctr"/>
            <a:endParaRPr lang="ru-RU" sz="969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3" name="Rectangle 3"/>
          <p:cNvSpPr>
            <a:spLocks noChangeArrowheads="1"/>
          </p:cNvSpPr>
          <p:nvPr/>
        </p:nvSpPr>
        <p:spPr bwMode="gray">
          <a:xfrm>
            <a:off x="6429053" y="4211293"/>
            <a:ext cx="3385941" cy="13388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lvl="1" indent="-264502">
              <a:spcAft>
                <a:spcPts val="18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dirty="0">
                <a:latin typeface="Segoe UI" panose="020B0502040204020203" pitchFamily="34" charset="0"/>
              </a:rPr>
              <a:t>Население обладает </a:t>
            </a:r>
            <a:r>
              <a:rPr lang="ru-RU" sz="1200" b="1" dirty="0">
                <a:latin typeface="Segoe UI" panose="020B0502040204020203" pitchFamily="34" charset="0"/>
              </a:rPr>
              <a:t>ключевыми универсальными</a:t>
            </a:r>
            <a:r>
              <a:rPr lang="ru-RU" sz="1200" dirty="0">
                <a:latin typeface="Segoe UI" panose="020B0502040204020203" pitchFamily="34" charset="0"/>
              </a:rPr>
              <a:t> </a:t>
            </a:r>
            <a:r>
              <a:rPr lang="ru-RU" sz="1200" b="1" dirty="0" smtClean="0">
                <a:latin typeface="Segoe UI" panose="020B0502040204020203" pitchFamily="34" charset="0"/>
              </a:rPr>
              <a:t>компетенциями  </a:t>
            </a:r>
            <a:r>
              <a:rPr lang="ru-RU" sz="1200" dirty="0">
                <a:latin typeface="Segoe UI" panose="020B0502040204020203" pitchFamily="34" charset="0"/>
              </a:rPr>
              <a:t>и высоким уровнем </a:t>
            </a:r>
            <a:r>
              <a:rPr lang="ru-RU" sz="1200" b="1" dirty="0">
                <a:latin typeface="Segoe UI" panose="020B0502040204020203" pitchFamily="34" charset="0"/>
              </a:rPr>
              <a:t>цифровой грамотности</a:t>
            </a:r>
            <a:endParaRPr lang="ru-RU" sz="1200" dirty="0">
              <a:latin typeface="Segoe UI" panose="020B0502040204020203" pitchFamily="34" charset="0"/>
            </a:endParaRPr>
          </a:p>
          <a:p>
            <a:pPr lvl="1" indent="-264502">
              <a:spcAft>
                <a:spcPts val="18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b="1" dirty="0"/>
              <a:t>Система образования </a:t>
            </a:r>
            <a:r>
              <a:rPr lang="ru-RU" sz="1200" dirty="0"/>
              <a:t>отвечает потребностям цифровой экономики</a:t>
            </a:r>
          </a:p>
        </p:txBody>
      </p:sp>
      <p:sp>
        <p:nvSpPr>
          <p:cNvPr id="44" name="Rectangle 2"/>
          <p:cNvSpPr>
            <a:spLocks noChangeArrowheads="1"/>
          </p:cNvSpPr>
          <p:nvPr/>
        </p:nvSpPr>
        <p:spPr bwMode="gray">
          <a:xfrm>
            <a:off x="6498316" y="3876477"/>
            <a:ext cx="318516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>
            <a:spAutoFit/>
          </a:bodyPr>
          <a:lstStyle/>
          <a:p>
            <a:pPr algn="ctr"/>
            <a:r>
              <a:rPr lang="ru-RU" sz="1600" b="1" dirty="0">
                <a:solidFill>
                  <a:srgbClr val="1F497D"/>
                </a:solidFill>
                <a:latin typeface="Tahoma"/>
                <a:ea typeface="Tahoma"/>
                <a:cs typeface="Tahoma"/>
                <a:sym typeface="Tahoma"/>
              </a:rPr>
              <a:t>Целевое видение к 2025 году</a:t>
            </a:r>
          </a:p>
        </p:txBody>
      </p:sp>
      <p:grpSp>
        <p:nvGrpSpPr>
          <p:cNvPr id="45" name="Group 197"/>
          <p:cNvGrpSpPr/>
          <p:nvPr/>
        </p:nvGrpSpPr>
        <p:grpSpPr>
          <a:xfrm>
            <a:off x="9546431" y="3466701"/>
            <a:ext cx="589301" cy="611533"/>
            <a:chOff x="2776538" y="5208588"/>
            <a:chExt cx="690563" cy="688975"/>
          </a:xfrm>
          <a:solidFill>
            <a:schemeClr val="tx2"/>
          </a:solidFill>
        </p:grpSpPr>
        <p:sp>
          <p:nvSpPr>
            <p:cNvPr id="46" name="Freeform 368"/>
            <p:cNvSpPr>
              <a:spLocks/>
            </p:cNvSpPr>
            <p:nvPr/>
          </p:nvSpPr>
          <p:spPr bwMode="auto">
            <a:xfrm>
              <a:off x="2971801" y="5403850"/>
              <a:ext cx="330200" cy="330200"/>
            </a:xfrm>
            <a:custGeom>
              <a:avLst/>
              <a:gdLst/>
              <a:ahLst/>
              <a:cxnLst>
                <a:cxn ang="0">
                  <a:pos x="42" y="57"/>
                </a:cxn>
                <a:cxn ang="0">
                  <a:pos x="33" y="54"/>
                </a:cxn>
                <a:cxn ang="0">
                  <a:pos x="14" y="36"/>
                </a:cxn>
                <a:cxn ang="0">
                  <a:pos x="1" y="36"/>
                </a:cxn>
                <a:cxn ang="0">
                  <a:pos x="0" y="44"/>
                </a:cxn>
                <a:cxn ang="0">
                  <a:pos x="44" y="88"/>
                </a:cxn>
                <a:cxn ang="0">
                  <a:pos x="88" y="44"/>
                </a:cxn>
                <a:cxn ang="0">
                  <a:pos x="44" y="0"/>
                </a:cxn>
                <a:cxn ang="0">
                  <a:pos x="36" y="1"/>
                </a:cxn>
                <a:cxn ang="0">
                  <a:pos x="36" y="14"/>
                </a:cxn>
                <a:cxn ang="0">
                  <a:pos x="54" y="33"/>
                </a:cxn>
                <a:cxn ang="0">
                  <a:pos x="57" y="42"/>
                </a:cxn>
                <a:cxn ang="0">
                  <a:pos x="42" y="57"/>
                </a:cxn>
              </a:cxnLst>
              <a:rect l="0" t="0" r="r" b="b"/>
              <a:pathLst>
                <a:path w="88" h="88">
                  <a:moveTo>
                    <a:pt x="42" y="57"/>
                  </a:moveTo>
                  <a:cubicBezTo>
                    <a:pt x="38" y="57"/>
                    <a:pt x="35" y="56"/>
                    <a:pt x="33" y="54"/>
                  </a:cubicBezTo>
                  <a:cubicBezTo>
                    <a:pt x="33" y="54"/>
                    <a:pt x="14" y="36"/>
                    <a:pt x="14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9"/>
                    <a:pt x="0" y="41"/>
                    <a:pt x="0" y="44"/>
                  </a:cubicBezTo>
                  <a:cubicBezTo>
                    <a:pt x="0" y="68"/>
                    <a:pt x="20" y="88"/>
                    <a:pt x="44" y="88"/>
                  </a:cubicBezTo>
                  <a:cubicBezTo>
                    <a:pt x="68" y="88"/>
                    <a:pt x="88" y="68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ubicBezTo>
                    <a:pt x="41" y="0"/>
                    <a:pt x="39" y="0"/>
                    <a:pt x="36" y="1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54" y="32"/>
                    <a:pt x="54" y="33"/>
                  </a:cubicBezTo>
                  <a:cubicBezTo>
                    <a:pt x="56" y="35"/>
                    <a:pt x="57" y="39"/>
                    <a:pt x="57" y="42"/>
                  </a:cubicBezTo>
                  <a:cubicBezTo>
                    <a:pt x="57" y="50"/>
                    <a:pt x="50" y="57"/>
                    <a:pt x="42" y="57"/>
                  </a:cubicBez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  <p:sp>
          <p:nvSpPr>
            <p:cNvPr id="47" name="Freeform 369"/>
            <p:cNvSpPr>
              <a:spLocks/>
            </p:cNvSpPr>
            <p:nvPr/>
          </p:nvSpPr>
          <p:spPr bwMode="auto">
            <a:xfrm>
              <a:off x="2806701" y="5238750"/>
              <a:ext cx="660400" cy="658813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53" y="7"/>
                </a:cxn>
                <a:cxn ang="0">
                  <a:pos x="68" y="22"/>
                </a:cxn>
                <a:cxn ang="0">
                  <a:pos x="88" y="19"/>
                </a:cxn>
                <a:cxn ang="0">
                  <a:pos x="157" y="88"/>
                </a:cxn>
                <a:cxn ang="0">
                  <a:pos x="88" y="157"/>
                </a:cxn>
                <a:cxn ang="0">
                  <a:pos x="19" y="88"/>
                </a:cxn>
                <a:cxn ang="0">
                  <a:pos x="22" y="68"/>
                </a:cxn>
                <a:cxn ang="0">
                  <a:pos x="7" y="53"/>
                </a:cxn>
                <a:cxn ang="0">
                  <a:pos x="0" y="88"/>
                </a:cxn>
                <a:cxn ang="0">
                  <a:pos x="88" y="176"/>
                </a:cxn>
                <a:cxn ang="0">
                  <a:pos x="176" y="88"/>
                </a:cxn>
                <a:cxn ang="0">
                  <a:pos x="88" y="0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76" y="0"/>
                    <a:pt x="64" y="3"/>
                    <a:pt x="53" y="7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75" y="20"/>
                    <a:pt x="81" y="19"/>
                    <a:pt x="88" y="19"/>
                  </a:cubicBezTo>
                  <a:cubicBezTo>
                    <a:pt x="126" y="19"/>
                    <a:pt x="157" y="50"/>
                    <a:pt x="157" y="88"/>
                  </a:cubicBezTo>
                  <a:cubicBezTo>
                    <a:pt x="157" y="126"/>
                    <a:pt x="126" y="157"/>
                    <a:pt x="88" y="157"/>
                  </a:cubicBezTo>
                  <a:cubicBezTo>
                    <a:pt x="50" y="157"/>
                    <a:pt x="19" y="126"/>
                    <a:pt x="19" y="88"/>
                  </a:cubicBezTo>
                  <a:cubicBezTo>
                    <a:pt x="19" y="81"/>
                    <a:pt x="20" y="75"/>
                    <a:pt x="22" y="68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3" y="64"/>
                    <a:pt x="0" y="76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  <p:sp>
          <p:nvSpPr>
            <p:cNvPr id="48" name="Freeform 370"/>
            <p:cNvSpPr>
              <a:spLocks/>
            </p:cNvSpPr>
            <p:nvPr/>
          </p:nvSpPr>
          <p:spPr bwMode="auto">
            <a:xfrm>
              <a:off x="2776538" y="5208588"/>
              <a:ext cx="379413" cy="377825"/>
            </a:xfrm>
            <a:custGeom>
              <a:avLst/>
              <a:gdLst/>
              <a:ahLst/>
              <a:cxnLst>
                <a:cxn ang="0">
                  <a:pos x="70" y="80"/>
                </a:cxn>
                <a:cxn ang="0">
                  <a:pos x="90" y="100"/>
                </a:cxn>
                <a:cxn ang="0">
                  <a:pos x="94" y="101"/>
                </a:cxn>
                <a:cxn ang="0">
                  <a:pos x="101" y="94"/>
                </a:cxn>
                <a:cxn ang="0">
                  <a:pos x="100" y="90"/>
                </a:cxn>
                <a:cxn ang="0">
                  <a:pos x="80" y="70"/>
                </a:cxn>
                <a:cxn ang="0">
                  <a:pos x="80" y="46"/>
                </a:cxn>
                <a:cxn ang="0">
                  <a:pos x="32" y="0"/>
                </a:cxn>
                <a:cxn ang="0">
                  <a:pos x="32" y="32"/>
                </a:cxn>
                <a:cxn ang="0">
                  <a:pos x="0" y="32"/>
                </a:cxn>
                <a:cxn ang="0">
                  <a:pos x="46" y="80"/>
                </a:cxn>
                <a:cxn ang="0">
                  <a:pos x="70" y="80"/>
                </a:cxn>
              </a:cxnLst>
              <a:rect l="0" t="0" r="r" b="b"/>
              <a:pathLst>
                <a:path w="101" h="101">
                  <a:moveTo>
                    <a:pt x="70" y="80"/>
                  </a:moveTo>
                  <a:cubicBezTo>
                    <a:pt x="90" y="100"/>
                    <a:pt x="90" y="100"/>
                    <a:pt x="90" y="100"/>
                  </a:cubicBezTo>
                  <a:cubicBezTo>
                    <a:pt x="91" y="101"/>
                    <a:pt x="93" y="101"/>
                    <a:pt x="94" y="101"/>
                  </a:cubicBezTo>
                  <a:cubicBezTo>
                    <a:pt x="98" y="101"/>
                    <a:pt x="101" y="98"/>
                    <a:pt x="101" y="94"/>
                  </a:cubicBezTo>
                  <a:cubicBezTo>
                    <a:pt x="101" y="93"/>
                    <a:pt x="101" y="91"/>
                    <a:pt x="100" y="9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46" y="80"/>
                    <a:pt x="46" y="80"/>
                    <a:pt x="46" y="80"/>
                  </a:cubicBezTo>
                  <a:lnTo>
                    <a:pt x="70" y="80"/>
                  </a:ln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78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entagon 6"/>
          <p:cNvSpPr/>
          <p:nvPr/>
        </p:nvSpPr>
        <p:spPr>
          <a:xfrm>
            <a:off x="1019068" y="993947"/>
            <a:ext cx="3914868" cy="3005371"/>
          </a:xfrm>
          <a:prstGeom prst="homePlate">
            <a:avLst>
              <a:gd name="adj" fmla="val 10429"/>
            </a:avLst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2304" bIns="62304" rtlCol="0" anchor="ctr" anchorCtr="0"/>
          <a:lstStyle/>
          <a:p>
            <a:pPr algn="ctr"/>
            <a:endParaRPr lang="ru-RU" sz="969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6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058469" y="871326"/>
            <a:ext cx="3145765" cy="708151"/>
          </a:xfrm>
          <a:prstGeom prst="rect">
            <a:avLst/>
          </a:prstGeom>
        </p:spPr>
        <p:txBody>
          <a:bodyPr vert="horz" lIns="0" tIns="76421" rIns="0" bIns="76421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НАПРАВЛЕНИЕ 5: </a:t>
            </a:r>
            <a:br>
              <a:rPr lang="ru-RU" sz="12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2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СОЗДАНИЕ ИННОВАЦИОННОЙ ЭКОСИСТЕМЫ</a:t>
            </a:r>
            <a:endParaRPr lang="ru-RU" sz="12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7"/>
          <p:cNvSpPr/>
          <p:nvPr/>
        </p:nvSpPr>
        <p:spPr>
          <a:xfrm>
            <a:off x="1019068" y="1458561"/>
            <a:ext cx="3589069" cy="254075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31000"/>
                </a:schemeClr>
              </a:gs>
            </a:gsLst>
            <a:lin ang="0" scaled="1"/>
            <a:tileRect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2304" bIns="62304" rtlCol="0" anchor="ctr" anchorCtr="0"/>
          <a:lstStyle/>
          <a:p>
            <a:pPr algn="ctr"/>
            <a:endParaRPr lang="ru-RU" sz="969" dirty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41" name="Group 197"/>
          <p:cNvGrpSpPr/>
          <p:nvPr/>
        </p:nvGrpSpPr>
        <p:grpSpPr>
          <a:xfrm>
            <a:off x="4284360" y="1178621"/>
            <a:ext cx="589301" cy="587947"/>
            <a:chOff x="2776538" y="5208588"/>
            <a:chExt cx="690563" cy="688975"/>
          </a:xfrm>
          <a:solidFill>
            <a:schemeClr val="tx2"/>
          </a:solidFill>
        </p:grpSpPr>
        <p:sp>
          <p:nvSpPr>
            <p:cNvPr id="47" name="Freeform 368"/>
            <p:cNvSpPr>
              <a:spLocks/>
            </p:cNvSpPr>
            <p:nvPr/>
          </p:nvSpPr>
          <p:spPr bwMode="auto">
            <a:xfrm>
              <a:off x="2971801" y="5403850"/>
              <a:ext cx="330200" cy="330200"/>
            </a:xfrm>
            <a:custGeom>
              <a:avLst/>
              <a:gdLst/>
              <a:ahLst/>
              <a:cxnLst>
                <a:cxn ang="0">
                  <a:pos x="42" y="57"/>
                </a:cxn>
                <a:cxn ang="0">
                  <a:pos x="33" y="54"/>
                </a:cxn>
                <a:cxn ang="0">
                  <a:pos x="14" y="36"/>
                </a:cxn>
                <a:cxn ang="0">
                  <a:pos x="1" y="36"/>
                </a:cxn>
                <a:cxn ang="0">
                  <a:pos x="0" y="44"/>
                </a:cxn>
                <a:cxn ang="0">
                  <a:pos x="44" y="88"/>
                </a:cxn>
                <a:cxn ang="0">
                  <a:pos x="88" y="44"/>
                </a:cxn>
                <a:cxn ang="0">
                  <a:pos x="44" y="0"/>
                </a:cxn>
                <a:cxn ang="0">
                  <a:pos x="36" y="1"/>
                </a:cxn>
                <a:cxn ang="0">
                  <a:pos x="36" y="14"/>
                </a:cxn>
                <a:cxn ang="0">
                  <a:pos x="54" y="33"/>
                </a:cxn>
                <a:cxn ang="0">
                  <a:pos x="57" y="42"/>
                </a:cxn>
                <a:cxn ang="0">
                  <a:pos x="42" y="57"/>
                </a:cxn>
              </a:cxnLst>
              <a:rect l="0" t="0" r="r" b="b"/>
              <a:pathLst>
                <a:path w="88" h="88">
                  <a:moveTo>
                    <a:pt x="42" y="57"/>
                  </a:moveTo>
                  <a:cubicBezTo>
                    <a:pt x="38" y="57"/>
                    <a:pt x="35" y="56"/>
                    <a:pt x="33" y="54"/>
                  </a:cubicBezTo>
                  <a:cubicBezTo>
                    <a:pt x="33" y="54"/>
                    <a:pt x="14" y="36"/>
                    <a:pt x="14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9"/>
                    <a:pt x="0" y="41"/>
                    <a:pt x="0" y="44"/>
                  </a:cubicBezTo>
                  <a:cubicBezTo>
                    <a:pt x="0" y="68"/>
                    <a:pt x="20" y="88"/>
                    <a:pt x="44" y="88"/>
                  </a:cubicBezTo>
                  <a:cubicBezTo>
                    <a:pt x="68" y="88"/>
                    <a:pt x="88" y="68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ubicBezTo>
                    <a:pt x="41" y="0"/>
                    <a:pt x="39" y="0"/>
                    <a:pt x="36" y="1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54" y="32"/>
                    <a:pt x="54" y="33"/>
                  </a:cubicBezTo>
                  <a:cubicBezTo>
                    <a:pt x="56" y="35"/>
                    <a:pt x="57" y="39"/>
                    <a:pt x="57" y="42"/>
                  </a:cubicBezTo>
                  <a:cubicBezTo>
                    <a:pt x="57" y="50"/>
                    <a:pt x="50" y="57"/>
                    <a:pt x="42" y="57"/>
                  </a:cubicBez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  <p:sp>
          <p:nvSpPr>
            <p:cNvPr id="49" name="Freeform 369"/>
            <p:cNvSpPr>
              <a:spLocks/>
            </p:cNvSpPr>
            <p:nvPr/>
          </p:nvSpPr>
          <p:spPr bwMode="auto">
            <a:xfrm>
              <a:off x="2806701" y="5238750"/>
              <a:ext cx="660400" cy="658813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53" y="7"/>
                </a:cxn>
                <a:cxn ang="0">
                  <a:pos x="68" y="22"/>
                </a:cxn>
                <a:cxn ang="0">
                  <a:pos x="88" y="19"/>
                </a:cxn>
                <a:cxn ang="0">
                  <a:pos x="157" y="88"/>
                </a:cxn>
                <a:cxn ang="0">
                  <a:pos x="88" y="157"/>
                </a:cxn>
                <a:cxn ang="0">
                  <a:pos x="19" y="88"/>
                </a:cxn>
                <a:cxn ang="0">
                  <a:pos x="22" y="68"/>
                </a:cxn>
                <a:cxn ang="0">
                  <a:pos x="7" y="53"/>
                </a:cxn>
                <a:cxn ang="0">
                  <a:pos x="0" y="88"/>
                </a:cxn>
                <a:cxn ang="0">
                  <a:pos x="88" y="176"/>
                </a:cxn>
                <a:cxn ang="0">
                  <a:pos x="176" y="88"/>
                </a:cxn>
                <a:cxn ang="0">
                  <a:pos x="88" y="0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76" y="0"/>
                    <a:pt x="64" y="3"/>
                    <a:pt x="53" y="7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75" y="20"/>
                    <a:pt x="81" y="19"/>
                    <a:pt x="88" y="19"/>
                  </a:cubicBezTo>
                  <a:cubicBezTo>
                    <a:pt x="126" y="19"/>
                    <a:pt x="157" y="50"/>
                    <a:pt x="157" y="88"/>
                  </a:cubicBezTo>
                  <a:cubicBezTo>
                    <a:pt x="157" y="126"/>
                    <a:pt x="126" y="157"/>
                    <a:pt x="88" y="157"/>
                  </a:cubicBezTo>
                  <a:cubicBezTo>
                    <a:pt x="50" y="157"/>
                    <a:pt x="19" y="126"/>
                    <a:pt x="19" y="88"/>
                  </a:cubicBezTo>
                  <a:cubicBezTo>
                    <a:pt x="19" y="81"/>
                    <a:pt x="20" y="75"/>
                    <a:pt x="22" y="68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3" y="64"/>
                    <a:pt x="0" y="76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  <p:sp>
          <p:nvSpPr>
            <p:cNvPr id="50" name="Freeform 370"/>
            <p:cNvSpPr>
              <a:spLocks/>
            </p:cNvSpPr>
            <p:nvPr/>
          </p:nvSpPr>
          <p:spPr bwMode="auto">
            <a:xfrm>
              <a:off x="2776538" y="5208588"/>
              <a:ext cx="379413" cy="377825"/>
            </a:xfrm>
            <a:custGeom>
              <a:avLst/>
              <a:gdLst/>
              <a:ahLst/>
              <a:cxnLst>
                <a:cxn ang="0">
                  <a:pos x="70" y="80"/>
                </a:cxn>
                <a:cxn ang="0">
                  <a:pos x="90" y="100"/>
                </a:cxn>
                <a:cxn ang="0">
                  <a:pos x="94" y="101"/>
                </a:cxn>
                <a:cxn ang="0">
                  <a:pos x="101" y="94"/>
                </a:cxn>
                <a:cxn ang="0">
                  <a:pos x="100" y="90"/>
                </a:cxn>
                <a:cxn ang="0">
                  <a:pos x="80" y="70"/>
                </a:cxn>
                <a:cxn ang="0">
                  <a:pos x="80" y="46"/>
                </a:cxn>
                <a:cxn ang="0">
                  <a:pos x="32" y="0"/>
                </a:cxn>
                <a:cxn ang="0">
                  <a:pos x="32" y="32"/>
                </a:cxn>
                <a:cxn ang="0">
                  <a:pos x="0" y="32"/>
                </a:cxn>
                <a:cxn ang="0">
                  <a:pos x="46" y="80"/>
                </a:cxn>
                <a:cxn ang="0">
                  <a:pos x="70" y="80"/>
                </a:cxn>
              </a:cxnLst>
              <a:rect l="0" t="0" r="r" b="b"/>
              <a:pathLst>
                <a:path w="101" h="101">
                  <a:moveTo>
                    <a:pt x="70" y="80"/>
                  </a:moveTo>
                  <a:cubicBezTo>
                    <a:pt x="90" y="100"/>
                    <a:pt x="90" y="100"/>
                    <a:pt x="90" y="100"/>
                  </a:cubicBezTo>
                  <a:cubicBezTo>
                    <a:pt x="91" y="101"/>
                    <a:pt x="93" y="101"/>
                    <a:pt x="94" y="101"/>
                  </a:cubicBezTo>
                  <a:cubicBezTo>
                    <a:pt x="98" y="101"/>
                    <a:pt x="101" y="98"/>
                    <a:pt x="101" y="94"/>
                  </a:cubicBezTo>
                  <a:cubicBezTo>
                    <a:pt x="101" y="93"/>
                    <a:pt x="101" y="91"/>
                    <a:pt x="100" y="9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46" y="80"/>
                    <a:pt x="46" y="80"/>
                    <a:pt x="46" y="80"/>
                  </a:cubicBezTo>
                  <a:lnTo>
                    <a:pt x="70" y="80"/>
                  </a:lnTo>
                  <a:close/>
                </a:path>
              </a:pathLst>
            </a:custGeom>
            <a:solidFill>
              <a:srgbClr val="1F497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05" tIns="45703" rIns="91405" bIns="45703" numCol="1" anchor="t" anchorCtr="0" compatLnSpc="1">
              <a:prstTxWarp prst="textNoShape">
                <a:avLst/>
              </a:prstTxWarp>
            </a:bodyPr>
            <a:lstStyle/>
            <a:p>
              <a:endParaRPr lang="en-US" sz="2999">
                <a:solidFill>
                  <a:srgbClr val="000000"/>
                </a:solidFill>
              </a:endParaRPr>
            </a:p>
          </p:txBody>
        </p:sp>
      </p:grpSp>
      <p:sp>
        <p:nvSpPr>
          <p:cNvPr id="59" name="Freeform 28"/>
          <p:cNvSpPr/>
          <p:nvPr/>
        </p:nvSpPr>
        <p:spPr>
          <a:xfrm>
            <a:off x="4035724" y="1178621"/>
            <a:ext cx="3932522" cy="4045923"/>
          </a:xfrm>
          <a:custGeom>
            <a:avLst/>
            <a:gdLst>
              <a:gd name="connsiteX0" fmla="*/ 0 w 4400550"/>
              <a:gd name="connsiteY0" fmla="*/ 0 h 4552950"/>
              <a:gd name="connsiteX1" fmla="*/ 4238625 w 4400550"/>
              <a:gd name="connsiteY1" fmla="*/ 0 h 4552950"/>
              <a:gd name="connsiteX2" fmla="*/ 4400550 w 4400550"/>
              <a:gd name="connsiteY2" fmla="*/ 2257425 h 4552950"/>
              <a:gd name="connsiteX3" fmla="*/ 4257675 w 4400550"/>
              <a:gd name="connsiteY3" fmla="*/ 4552950 h 4552950"/>
              <a:gd name="connsiteX4" fmla="*/ 19050 w 4400550"/>
              <a:gd name="connsiteY4" fmla="*/ 4552950 h 4552950"/>
              <a:gd name="connsiteX5" fmla="*/ 19050 w 4400550"/>
              <a:gd name="connsiteY5" fmla="*/ 4552950 h 4552950"/>
              <a:gd name="connsiteX0" fmla="*/ 0 w 4739628"/>
              <a:gd name="connsiteY0" fmla="*/ 0 h 4552950"/>
              <a:gd name="connsiteX1" fmla="*/ 4238625 w 4739628"/>
              <a:gd name="connsiteY1" fmla="*/ 0 h 4552950"/>
              <a:gd name="connsiteX2" fmla="*/ 4739628 w 4739628"/>
              <a:gd name="connsiteY2" fmla="*/ 2266702 h 4552950"/>
              <a:gd name="connsiteX3" fmla="*/ 4257675 w 4739628"/>
              <a:gd name="connsiteY3" fmla="*/ 4552950 h 4552950"/>
              <a:gd name="connsiteX4" fmla="*/ 19050 w 4739628"/>
              <a:gd name="connsiteY4" fmla="*/ 4552950 h 4552950"/>
              <a:gd name="connsiteX5" fmla="*/ 19050 w 4739628"/>
              <a:gd name="connsiteY5" fmla="*/ 4552950 h 455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39628" h="4552950">
                <a:moveTo>
                  <a:pt x="0" y="0"/>
                </a:moveTo>
                <a:lnTo>
                  <a:pt x="4238625" y="0"/>
                </a:lnTo>
                <a:lnTo>
                  <a:pt x="4739628" y="2266702"/>
                </a:lnTo>
                <a:lnTo>
                  <a:pt x="4257675" y="4552950"/>
                </a:lnTo>
                <a:lnTo>
                  <a:pt x="19050" y="4552950"/>
                </a:lnTo>
                <a:lnTo>
                  <a:pt x="19050" y="4552950"/>
                </a:lnTo>
              </a:path>
            </a:pathLst>
          </a:custGeom>
          <a:noFill/>
          <a:ln w="603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77">
              <a:solidFill>
                <a:srgbClr val="000000"/>
              </a:solidFill>
            </a:endParaRPr>
          </a:p>
        </p:txBody>
      </p:sp>
      <p:sp>
        <p:nvSpPr>
          <p:cNvPr id="60" name="Rectangle 3"/>
          <p:cNvSpPr>
            <a:spLocks noChangeArrowheads="1"/>
          </p:cNvSpPr>
          <p:nvPr/>
        </p:nvSpPr>
        <p:spPr bwMode="gray">
          <a:xfrm>
            <a:off x="960341" y="1588692"/>
            <a:ext cx="3457994" cy="18158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lvl="1" indent="-264502">
              <a:spcBef>
                <a:spcPts val="445"/>
              </a:spcBef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endParaRPr lang="ru-RU" sz="1200" b="1" dirty="0">
              <a:latin typeface="Segoe UI" panose="020B0502040204020203" pitchFamily="34" charset="0"/>
              <a:ea typeface="Tahoma"/>
              <a:cs typeface="Tahoma"/>
            </a:endParaRPr>
          </a:p>
          <a:p>
            <a:pPr lvl="1" indent="-264502" fontAlgn="base">
              <a:spcBef>
                <a:spcPts val="445"/>
              </a:spcBef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Наличие </a:t>
            </a: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на порядок большего числа технологических компаний, 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созданных в РК</a:t>
            </a:r>
          </a:p>
          <a:p>
            <a:pPr lvl="1" indent="-264502" fontAlgn="base">
              <a:spcBef>
                <a:spcPts val="445"/>
              </a:spcBef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Развитый в </a:t>
            </a:r>
            <a:r>
              <a:rPr lang="ru-RU" sz="1200" dirty="0" err="1">
                <a:latin typeface="Segoe UI" panose="020B0502040204020203" pitchFamily="34" charset="0"/>
                <a:ea typeface="Tahoma"/>
                <a:cs typeface="Tahoma"/>
              </a:rPr>
              <a:t>РК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 рынок частной профессиональной отрасли </a:t>
            </a: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венчурного капитала</a:t>
            </a:r>
          </a:p>
          <a:p>
            <a:pPr lvl="1" indent="-264502" fontAlgn="base">
              <a:spcBef>
                <a:spcPts val="445"/>
              </a:spcBef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"Истории успеха" 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казахстанских </a:t>
            </a:r>
            <a:r>
              <a:rPr lang="ru-RU" sz="1200" dirty="0" err="1">
                <a:latin typeface="Segoe UI" panose="020B0502040204020203" pitchFamily="34" charset="0"/>
                <a:ea typeface="Tahoma"/>
                <a:cs typeface="Tahoma"/>
              </a:rPr>
              <a:t>стартапов</a:t>
            </a:r>
            <a:r>
              <a:rPr lang="ru-RU" sz="1200" dirty="0">
                <a:latin typeface="Segoe UI" panose="020B0502040204020203" pitchFamily="34" charset="0"/>
                <a:ea typeface="Tahoma"/>
                <a:cs typeface="Tahoma"/>
              </a:rPr>
              <a:t> на международной арене</a:t>
            </a:r>
            <a:r>
              <a:rPr lang="ru-RU" sz="1200" b="1" dirty="0">
                <a:latin typeface="Segoe UI" panose="020B0502040204020203" pitchFamily="34" charset="0"/>
                <a:ea typeface="Tahoma"/>
                <a:cs typeface="Tahoma"/>
              </a:rPr>
              <a:t>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8B60117-E08C-411B-B297-28158E1E1368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gray">
          <a:xfrm>
            <a:off x="1019068" y="1458561"/>
            <a:ext cx="318516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>
            <a:spAutoFit/>
          </a:bodyPr>
          <a:lstStyle/>
          <a:p>
            <a:pPr algn="ctr"/>
            <a:r>
              <a:rPr lang="ru-RU" sz="1600" b="1" dirty="0">
                <a:solidFill>
                  <a:srgbClr val="1F497D"/>
                </a:solidFill>
                <a:latin typeface="Tahoma"/>
                <a:ea typeface="Tahoma"/>
                <a:cs typeface="Tahoma"/>
                <a:sym typeface="Tahoma"/>
              </a:rPr>
              <a:t>Целевое видение к 2025 году</a:t>
            </a:r>
          </a:p>
        </p:txBody>
      </p:sp>
    </p:spTree>
    <p:extLst>
      <p:ext uri="{BB962C8B-B14F-4D97-AF65-F5344CB8AC3E}">
        <p14:creationId xmlns:p14="http://schemas.microsoft.com/office/powerpoint/2010/main" val="1596143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mhRlw2cp0uqlaaOYveJw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mhRlw2cp0uqlaaOYveJw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mhRlw2cp0uqlaaOYveJw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mhRlw2cp0uqlaaOYveJw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mhRlw2cp0uqlaaOYveJw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mhRlw2cp0uqlaaOYveJwg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21594000" scaled="0"/>
        </a:gradFill>
        <a:ln w="9525" cap="flat" cmpd="sng" algn="ctr">
          <a:noFill/>
          <a:prstDash val="solid"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accent1"/>
              </a:solidFill>
              <a:prstDash val="solid"/>
            </a14:hiddenLine>
          </a:ext>
        </a:extLst>
      </a:spPr>
      <a:bodyPr tIns="89965" bIns="89965" rtlCol="0" anchor="ctr" anchorCtr="0"/>
      <a:lstStyle>
        <a:defPPr algn="ctr">
          <a:defRPr sz="2999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9327</TotalTime>
  <Words>206</Words>
  <Application>Microsoft Office PowerPoint</Application>
  <PresentationFormat>Широкоэкранный</PresentationFormat>
  <Paragraphs>46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Tahoma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Алмат Кайракбеков</dc:creator>
  <cp:lastModifiedBy>Нариман Дюссекеев</cp:lastModifiedBy>
  <cp:revision>189</cp:revision>
  <cp:lastPrinted>2018-01-10T15:47:28Z</cp:lastPrinted>
  <dcterms:created xsi:type="dcterms:W3CDTF">2017-11-02T15:09:53Z</dcterms:created>
  <dcterms:modified xsi:type="dcterms:W3CDTF">2018-01-10T16:16:51Z</dcterms:modified>
</cp:coreProperties>
</file>